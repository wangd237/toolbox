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85" r:id="rId2"/>
    <p:sldId id="256" r:id="rId3"/>
    <p:sldId id="257" r:id="rId4"/>
    <p:sldId id="258" r:id="rId5"/>
    <p:sldId id="259" r:id="rId6"/>
    <p:sldId id="266" r:id="rId7"/>
    <p:sldId id="267" r:id="rId8"/>
    <p:sldId id="268" r:id="rId9"/>
    <p:sldId id="260" r:id="rId10"/>
    <p:sldId id="286" r:id="rId11"/>
    <p:sldId id="289" r:id="rId12"/>
    <p:sldId id="261" r:id="rId13"/>
    <p:sldId id="272" r:id="rId14"/>
    <p:sldId id="273" r:id="rId15"/>
    <p:sldId id="262" r:id="rId16"/>
    <p:sldId id="275" r:id="rId17"/>
    <p:sldId id="284" r:id="rId18"/>
    <p:sldId id="287" r:id="rId19"/>
    <p:sldId id="290" r:id="rId20"/>
    <p:sldId id="269" r:id="rId21"/>
    <p:sldId id="271" r:id="rId22"/>
    <p:sldId id="277" r:id="rId23"/>
    <p:sldId id="278" r:id="rId24"/>
    <p:sldId id="279" r:id="rId25"/>
    <p:sldId id="263" r:id="rId26"/>
    <p:sldId id="288" r:id="rId27"/>
    <p:sldId id="291" r:id="rId28"/>
    <p:sldId id="270" r:id="rId29"/>
    <p:sldId id="274" r:id="rId30"/>
    <p:sldId id="281" r:id="rId31"/>
    <p:sldId id="282" r:id="rId32"/>
    <p:sldId id="292" r:id="rId33"/>
    <p:sldId id="26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言和目录" id="{90BB8E26-43C6-409E-9E67-06CAA7DC38C3}">
          <p14:sldIdLst>
            <p14:sldId id="285"/>
            <p14:sldId id="256"/>
            <p14:sldId id="257"/>
          </p14:sldIdLst>
        </p14:section>
        <p14:section name="三方法原理和使用场景区别" id="{4B0BB11D-3267-41E4-BBA8-75F96077620B}">
          <p14:sldIdLst>
            <p14:sldId id="258"/>
            <p14:sldId id="259"/>
            <p14:sldId id="266"/>
            <p14:sldId id="267"/>
            <p14:sldId id="268"/>
            <p14:sldId id="260"/>
            <p14:sldId id="286"/>
          </p14:sldIdLst>
        </p14:section>
        <p14:section name="KRAKEN 使用方法" id="{BA036D1A-811A-45A0-BE3A-A77CA7F9FE7B}">
          <p14:sldIdLst>
            <p14:sldId id="289"/>
            <p14:sldId id="261"/>
            <p14:sldId id="272"/>
            <p14:sldId id="273"/>
            <p14:sldId id="262"/>
            <p14:sldId id="275"/>
            <p14:sldId id="284"/>
            <p14:sldId id="287"/>
          </p14:sldIdLst>
        </p14:section>
        <p14:section name="BELLHOP 使用方法" id="{E68D076F-BAAF-4791-A574-363B31CFABF5}">
          <p14:sldIdLst>
            <p14:sldId id="290"/>
            <p14:sldId id="269"/>
            <p14:sldId id="271"/>
            <p14:sldId id="277"/>
            <p14:sldId id="278"/>
            <p14:sldId id="279"/>
            <p14:sldId id="263"/>
            <p14:sldId id="288"/>
          </p14:sldIdLst>
        </p14:section>
        <p14:section name="RAM使用方法" id="{E352A80A-2981-4A68-A68B-0876D37337C1}">
          <p14:sldIdLst>
            <p14:sldId id="291"/>
            <p14:sldId id="270"/>
            <p14:sldId id="274"/>
            <p14:sldId id="281"/>
            <p14:sldId id="282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钱 鹏" initials="钱" lastIdx="2" clrIdx="0">
    <p:extLst>
      <p:ext uri="{19B8F6BF-5375-455C-9EA6-DF929625EA0E}">
        <p15:presenceInfo xmlns:p15="http://schemas.microsoft.com/office/powerpoint/2012/main" userId="57d8817966e6c2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12" autoAdjust="0"/>
    <p:restoredTop sz="94660"/>
  </p:normalViewPr>
  <p:slideViewPr>
    <p:cSldViewPr snapToGrid="0">
      <p:cViewPr>
        <p:scale>
          <a:sx n="75" d="100"/>
          <a:sy n="75" d="100"/>
        </p:scale>
        <p:origin x="691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36D5B-936B-4539-952E-3F9A9B23C7AB}" type="datetimeFigureOut">
              <a:rPr lang="zh-CN" altLang="en-US" smtClean="0"/>
              <a:t>2021/4/1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30B3C-7485-4FC2-A93A-AA89F7F2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05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0A37-40A3-41DD-978A-1C9140B2E233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3AD9C-11F3-4684-8E90-F07B9110933A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3834" y="549714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7C86-9289-42DF-BFD3-3371549DB029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42FEF-E536-4C33-BE41-8DB56F81E6E4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11AA-BB4C-48DE-8CB1-1953FC8F2953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15101-CA50-44D7-A6A2-2AADDCF99CF3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75C4-45D1-4EAD-85B8-105C618CC46B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99915" y="5278609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E532-9A55-4049-90F3-BDDC6C503052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90A5A47-E19D-43EE-BAC1-9EA709E34058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8FC-E194-475C-881C-98A6F669B3D7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9388-42AD-46F4-8543-FA390FA32658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EC786-A60F-4F08-B4FA-0603F3AF35DD}" type="datetime1">
              <a:rPr lang="en-US" altLang="zh-CN" smtClean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f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12F93FE-61B9-4C9F-AF42-C77B08F8CA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79" r="9816" b="3294"/>
          <a:stretch/>
        </p:blipFill>
        <p:spPr>
          <a:xfrm rot="21240378" flipH="1">
            <a:off x="277061" y="1553873"/>
            <a:ext cx="4895910" cy="39948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E96F08-E3F2-4A4A-8AF3-BD46B6820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249" y="1872095"/>
            <a:ext cx="2609589" cy="33584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261E58-FD59-4F42-B4E9-303293722F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718" t="-1" r="19543" b="-2085"/>
          <a:stretch/>
        </p:blipFill>
        <p:spPr>
          <a:xfrm>
            <a:off x="7212007" y="2538628"/>
            <a:ext cx="2922831" cy="2586471"/>
          </a:xfrm>
          <a:prstGeom prst="rect">
            <a:avLst/>
          </a:prstGeom>
        </p:spPr>
      </p:pic>
      <p:sp>
        <p:nvSpPr>
          <p:cNvPr id="16" name="对话气泡: 椭圆形 15">
            <a:extLst>
              <a:ext uri="{FF2B5EF4-FFF2-40B4-BE49-F238E27FC236}">
                <a16:creationId xmlns:a16="http://schemas.microsoft.com/office/drawing/2014/main" id="{93EC1E56-63CA-421F-8B18-45DE5D6E5DDE}"/>
              </a:ext>
            </a:extLst>
          </p:cNvPr>
          <p:cNvSpPr/>
          <p:nvPr/>
        </p:nvSpPr>
        <p:spPr>
          <a:xfrm>
            <a:off x="3751836" y="437391"/>
            <a:ext cx="3906982" cy="1101437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海绵宝宝，快起来干活！</a:t>
            </a:r>
          </a:p>
        </p:txBody>
      </p:sp>
    </p:spTree>
    <p:extLst>
      <p:ext uri="{BB962C8B-B14F-4D97-AF65-F5344CB8AC3E}">
        <p14:creationId xmlns:p14="http://schemas.microsoft.com/office/powerpoint/2010/main" val="173490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-0.01944 L 0.04739 -0.04351 L 0.10534 -0.00416 L 0.13776 -0.04351 L 0.18125 -0.01041 L 0.21536 -0.03449 " pathEditMode="relative" ptsTypes="A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27007-3EDC-4984-87B6-89E9FC283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声学工具箱教程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B398D-BA24-4A35-AAF4-EC89A49DA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钱鹏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A64A6-0A8E-4729-AD4B-2967C9DF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3291" y="507801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0AB201-0C27-4F5E-9AAD-14B22DC01F97}"/>
              </a:ext>
            </a:extLst>
          </p:cNvPr>
          <p:cNvSpPr txBox="1"/>
          <p:nvPr/>
        </p:nvSpPr>
        <p:spPr>
          <a:xfrm>
            <a:off x="4880690" y="4373134"/>
            <a:ext cx="6103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声学工具箱下载地址：http://oalib.hlsresearch.com/AcousticsToolbox/</a:t>
            </a:r>
          </a:p>
        </p:txBody>
      </p:sp>
    </p:spTree>
    <p:extLst>
      <p:ext uri="{BB962C8B-B14F-4D97-AF65-F5344CB8AC3E}">
        <p14:creationId xmlns:p14="http://schemas.microsoft.com/office/powerpoint/2010/main" val="124015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FBD02-705E-4A8C-8F0D-1B380A1B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3E7FC6-5199-4F32-B04D-3F62A132D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KRAKEN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BELLHOP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RAM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原理和使用的场景区别</a:t>
            </a:r>
            <a:endParaRPr lang="en-US" altLang="zh-CN" sz="24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KRAKEN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使用方法</a:t>
            </a:r>
            <a:endParaRPr lang="en-US" altLang="zh-CN" sz="24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BELLHOP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使用方法</a:t>
            </a:r>
            <a:endParaRPr lang="en-US" altLang="zh-CN" sz="24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effectLst/>
                <a:latin typeface="+mn-ea"/>
                <a:cs typeface="Times New Roman" panose="02020603050405020304" pitchFamily="18" charset="0"/>
              </a:rPr>
              <a:t>RAM</a:t>
            </a:r>
            <a:r>
              <a:rPr lang="zh-CN" altLang="zh-CN" sz="2400" dirty="0">
                <a:effectLst/>
                <a:latin typeface="+mn-ea"/>
                <a:cs typeface="Times New Roman" panose="02020603050405020304" pitchFamily="18" charset="0"/>
              </a:rPr>
              <a:t>使用方法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D3BDC4-4B67-45C7-BADE-EE8E2AFF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9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69C56-8656-4DCE-AE5F-DBFE8308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原理介绍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EAD42B-FCCD-4762-9542-D837320B7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波动方程：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6B07EB5-1672-483A-921B-5B3B646C20E1}"/>
              </a:ext>
            </a:extLst>
          </p:cNvPr>
          <p:cNvGrpSpPr/>
          <p:nvPr/>
        </p:nvGrpSpPr>
        <p:grpSpPr>
          <a:xfrm>
            <a:off x="3575385" y="2188185"/>
            <a:ext cx="4938299" cy="2801065"/>
            <a:chOff x="1703" y="2525"/>
            <a:chExt cx="7896" cy="34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A691700-1035-407E-9820-D4953178C17D}"/>
                </a:ext>
              </a:extLst>
            </p:cNvPr>
            <p:cNvSpPr/>
            <p:nvPr/>
          </p:nvSpPr>
          <p:spPr>
            <a:xfrm>
              <a:off x="1703" y="2525"/>
              <a:ext cx="7896" cy="2880"/>
            </a:xfrm>
            <a:prstGeom prst="rect">
              <a:avLst/>
            </a:prstGeom>
            <a:noFill/>
            <a:ln>
              <a:solidFill>
                <a:srgbClr val="5546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34C1D93-3298-4411-A93C-B20CE05FB637}"/>
                    </a:ext>
                  </a:extLst>
                </p:cNvPr>
                <p:cNvSpPr/>
                <p:nvPr/>
              </p:nvSpPr>
              <p:spPr>
                <a:xfrm>
                  <a:off x="3378" y="5016"/>
                  <a:ext cx="4733" cy="949"/>
                </a:xfrm>
                <a:prstGeom prst="rect">
                  <a:avLst/>
                </a:prstGeom>
                <a:solidFill>
                  <a:srgbClr val="55463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ea typeface="罗西钢笔行楷" panose="02010800040101010101" charset="-122"/>
                    </a:rPr>
                    <a:t>波动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ea typeface="罗西钢笔行楷" panose="02010800040101010101" charset="-122"/>
                        </a:rPr>
                        <m:t>方程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罗西钢笔行楷" panose="02010800040101010101" charset="-122"/>
                        </a:rPr>
                        <m:t>：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罗西钢笔行楷" panose="02010800040101010101" charset="-122"/>
                        </a:rPr>
                        <m:t>𝑝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罗西钢笔行楷" panose="02010800040101010101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  <m:t>𝑝</m:t>
                          </m:r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罗西钢笔行楷" panose="02010800040101010101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罗西钢笔行楷" panose="02010800040101010101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罗西钢笔行楷" panose="02010800040101010101" charset="-122"/>
                        </a:rPr>
                        <m:t>=0</m:t>
                      </m:r>
                    </m:oMath>
                  </a14:m>
                  <a:endParaRPr lang="zh-CN" altLang="en-US" dirty="0">
                    <a:latin typeface="罗西钢笔行楷" panose="02010800040101010101" charset="-122"/>
                    <a:ea typeface="罗西钢笔行楷" panose="02010800040101010101" charset="-122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34C1D93-3298-4411-A93C-B20CE05FB6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8" y="5016"/>
                  <a:ext cx="4733" cy="949"/>
                </a:xfrm>
                <a:prstGeom prst="rect">
                  <a:avLst/>
                </a:prstGeom>
                <a:blipFill>
                  <a:blip r:embed="rId2"/>
                  <a:stretch>
                    <a:fillRect l="-14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3">
                <a:extLst>
                  <a:ext uri="{FF2B5EF4-FFF2-40B4-BE49-F238E27FC236}">
                    <a16:creationId xmlns:a16="http://schemas.microsoft.com/office/drawing/2014/main" id="{B8764CC9-2BFA-4886-B949-AE92C58C9817}"/>
                  </a:ext>
                </a:extLst>
              </p:cNvPr>
              <p:cNvSpPr txBox="1"/>
              <p:nvPr/>
            </p:nvSpPr>
            <p:spPr>
              <a:xfrm>
                <a:off x="3693367" y="2373390"/>
                <a:ext cx="4688840" cy="17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ea typeface="罗西钢笔行楷" panose="02010800040101010101" charset="-122"/>
                    <a:cs typeface="+mn-ea"/>
                    <a:sym typeface="+mn-lt"/>
                  </a:rPr>
                  <a:t>运动方程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：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𝑣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∇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ea"/>
                            <a:sym typeface="+mn-lt"/>
                          </a:rPr>
                          <m:t>𝜌</m:t>
                        </m:r>
                      </m:e>
                    </m:d>
                  </m:oMath>
                </a14:m>
                <a:endParaRPr lang="en-US" altLang="zh-CN" dirty="0">
                  <a:latin typeface="罗西钢笔行楷" panose="02010800040101010101" charset="-122"/>
                  <a:ea typeface="Cambria Math" panose="02040503050406030204" pitchFamily="18" charset="0"/>
                  <a:cs typeface="+mn-ea"/>
                  <a:sym typeface="+mn-lt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ea typeface="罗西钢笔行楷" panose="02010800040101010101" charset="-122"/>
                    <a:cs typeface="+mn-ea"/>
                    <a:sym typeface="+mn-lt"/>
                  </a:rPr>
                  <a:t>连续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性方程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：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罗西钢笔行楷" panose="02010800040101010101" charset="-122"/>
                                <a:cs typeface="+mn-ea"/>
                                <a:sym typeface="+mn-lt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∇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∙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ea"/>
                        <a:sym typeface="+mn-lt"/>
                      </a:rPr>
                      <m:t>𝒗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latin typeface="罗西钢笔行楷" panose="02010800040101010101" charset="-122"/>
                  <a:ea typeface="Cambria Math" panose="02040503050406030204" pitchFamily="18" charset="0"/>
                  <a:cs typeface="+mn-ea"/>
                  <a:sym typeface="+mn-lt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ea typeface="罗西钢笔行楷" panose="02010800040101010101" charset="-122"/>
                    <a:cs typeface="+mn-ea"/>
                    <a:sym typeface="+mn-lt"/>
                  </a:rPr>
                  <a:t>物态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方程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罗西钢笔行楷" panose="02010800040101010101" charset="-122"/>
                        <a:cs typeface="+mn-ea"/>
                        <a:sym typeface="+mn-lt"/>
                      </a:rPr>
                      <m:t>：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𝑝</m:t>
                        </m:r>
                      </m:e>
                      <m:sup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罗西钢笔行楷" panose="02010800040101010101" charset="-122"/>
                    <a:ea typeface="Cambria Math" panose="02040503050406030204" pitchFamily="18" charset="0"/>
                    <a:cs typeface="+mn-ea"/>
                    <a:sym typeface="+mn-lt"/>
                  </a:rPr>
                  <a:t>=</a:t>
                </a:r>
                <a:r>
                  <a:rPr lang="en-US" altLang="zh-CN" dirty="0">
                    <a:solidFill>
                      <a:schemeClr val="tx1"/>
                    </a:solidFill>
                    <a:ea typeface="罗西钢笔行楷" panose="02010800040101010101" charset="-122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𝜌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𝑐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罗西钢笔行楷" panose="02010800040101010101" charset="-122"/>
                            <a:cs typeface="+mn-ea"/>
                            <a:sym typeface="+mn-lt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schemeClr val="tx1"/>
                  </a:solidFill>
                  <a:latin typeface="罗西钢笔行楷" panose="02010800040101010101" charset="-122"/>
                  <a:ea typeface="Cambria Math" panose="02040503050406030204" pitchFamily="18" charset="0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TextBox 23">
                <a:extLst>
                  <a:ext uri="{FF2B5EF4-FFF2-40B4-BE49-F238E27FC236}">
                    <a16:creationId xmlns:a16="http://schemas.microsoft.com/office/drawing/2014/main" id="{B8764CC9-2BFA-4886-B949-AE92C58C9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367" y="2373390"/>
                <a:ext cx="4688840" cy="1769331"/>
              </a:xfrm>
              <a:prstGeom prst="rect">
                <a:avLst/>
              </a:prstGeom>
              <a:blipFill>
                <a:blip r:embed="rId3"/>
                <a:stretch>
                  <a:fillRect b="-4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674A5539-CD3D-4B08-943D-FCCC21926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013" y="2259786"/>
            <a:ext cx="2808881" cy="23384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2C444A4-B23A-4787-B78C-A3E7C10F5184}"/>
              </a:ext>
            </a:extLst>
          </p:cNvPr>
          <p:cNvSpPr txBox="1"/>
          <p:nvPr/>
        </p:nvSpPr>
        <p:spPr>
          <a:xfrm>
            <a:off x="8867447" y="4852958"/>
            <a:ext cx="2952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弹簧小球模型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C97F56FD-BD40-4A7B-A7C2-D0C751EF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69186-506D-4E26-8E81-D916FF351F6F}"/>
              </a:ext>
            </a:extLst>
          </p:cNvPr>
          <p:cNvSpPr txBox="1"/>
          <p:nvPr/>
        </p:nvSpPr>
        <p:spPr>
          <a:xfrm>
            <a:off x="2521258" y="5335480"/>
            <a:ext cx="669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注：详细推导过程见声学基础</a:t>
            </a:r>
            <a:r>
              <a:rPr lang="en-US" altLang="zh-CN" dirty="0"/>
              <a:t>p.110-p.118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60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098B3-4EC2-49AA-89EA-60B2E0D0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原理介绍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51F72-13A5-4618-A28A-F395AA01A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为了求解波动方程，使用的方法有简正波模型（</a:t>
            </a:r>
            <a:r>
              <a:rPr lang="en-US" altLang="zh-CN" dirty="0"/>
              <a:t>KRAKEN</a:t>
            </a:r>
            <a:r>
              <a:rPr lang="zh-CN" altLang="en-US" dirty="0"/>
              <a:t>）、射线模型（</a:t>
            </a:r>
            <a:r>
              <a:rPr lang="en-US" altLang="zh-CN" dirty="0"/>
              <a:t>BELLHOP</a:t>
            </a:r>
            <a:r>
              <a:rPr lang="zh-CN" altLang="en-US" dirty="0"/>
              <a:t>）、抛物方程模型（</a:t>
            </a:r>
            <a:r>
              <a:rPr lang="en-US" altLang="zh-CN" dirty="0"/>
              <a:t>RAM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简正波模型：利用简正波分解对波动方程直接求解。</a:t>
            </a:r>
            <a:endParaRPr lang="en-US" altLang="zh-CN" dirty="0"/>
          </a:p>
          <a:p>
            <a:r>
              <a:rPr lang="zh-CN" altLang="en-US" dirty="0"/>
              <a:t>射线模型：将声波近似为声线，对波动方程求解。</a:t>
            </a:r>
            <a:endParaRPr lang="en-US" altLang="zh-CN" dirty="0"/>
          </a:p>
          <a:p>
            <a:r>
              <a:rPr lang="zh-CN" altLang="en-US" dirty="0"/>
              <a:t>抛物方程模型：推导波动方程，略去其中小量，得到抛物方程，对抛物方程进行求解。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D6B91F-03D3-4541-91FD-B52D0B37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43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45A38-6F1F-4166-A7B8-48820861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简正波模型（</a:t>
            </a:r>
            <a:r>
              <a:rPr lang="en-US" altLang="zh-CN" dirty="0"/>
              <a:t>KRAKEN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EEFF63-EFC3-432F-9CD9-66AB6B48E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简正波分解</a:t>
                </a: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b="0" dirty="0"/>
                  <a:t>将该式带入存在声源的波动方程中。</a:t>
                </a:r>
                <a:r>
                  <a:rPr lang="zh-CN" altLang="en-US" dirty="0"/>
                  <a:t>通过求解特征函数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得到声场的解。</a:t>
                </a:r>
                <a:endParaRPr lang="en-US" altLang="zh-CN" dirty="0"/>
              </a:p>
              <a:p>
                <a:r>
                  <a:rPr lang="zh-CN" altLang="en-US" dirty="0"/>
                  <a:t>得到解为：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altLang="zh-CN" sz="20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0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0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/4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altLang="zh-CN" sz="20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𝑟𝑚</m:t>
                                      </m:r>
                                    </m:sub>
                                  </m:s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𝑟𝑚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EEFF63-EFC3-432F-9CD9-66AB6B48E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8E4A1E-B87F-4558-9FCC-ABA1C494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A50E02-0AC3-465A-90D4-1036629E6836}"/>
              </a:ext>
            </a:extLst>
          </p:cNvPr>
          <p:cNvSpPr/>
          <p:nvPr/>
        </p:nvSpPr>
        <p:spPr>
          <a:xfrm>
            <a:off x="6698017" y="2692961"/>
            <a:ext cx="762000" cy="590550"/>
          </a:xfrm>
          <a:prstGeom prst="rect">
            <a:avLst/>
          </a:prstGeom>
          <a:noFill/>
          <a:ln w="28575">
            <a:solidFill>
              <a:srgbClr val="B71E4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C4AB35-7C93-498D-BE2B-622116C28BD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460017" y="2988236"/>
            <a:ext cx="1235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C52DCDE-7319-471D-82C1-45869A12AEF9}"/>
              </a:ext>
            </a:extLst>
          </p:cNvPr>
          <p:cNvSpPr txBox="1"/>
          <p:nvPr/>
        </p:nvSpPr>
        <p:spPr>
          <a:xfrm>
            <a:off x="8695460" y="280357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F55076-FD2F-49A8-8228-09E90C7382E2}"/>
              </a:ext>
            </a:extLst>
          </p:cNvPr>
          <p:cNvSpPr txBox="1"/>
          <p:nvPr/>
        </p:nvSpPr>
        <p:spPr>
          <a:xfrm>
            <a:off x="2512942" y="5512597"/>
            <a:ext cx="726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注：详细推导过程见</a:t>
            </a:r>
            <a:r>
              <a:rPr lang="en-US" altLang="zh-CN" dirty="0"/>
              <a:t>《Computational Ocean </a:t>
            </a:r>
            <a:r>
              <a:rPr lang="en-US" altLang="zh-CN" dirty="0" err="1"/>
              <a:t>Acoustic》Chapter</a:t>
            </a:r>
            <a:r>
              <a:rPr lang="en-US" altLang="zh-CN" dirty="0"/>
              <a:t>.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1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07A22-D212-43EB-85C4-DDEA8472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射线模型（</a:t>
            </a:r>
            <a:r>
              <a:rPr lang="en-US" altLang="zh-CN" dirty="0"/>
              <a:t>bellhop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593B22-6E5C-42E2-B7AE-039FA8CCF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l"/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基本思想</a:t>
                </a:r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: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声波能量沿一定路径通过一定形状的几何面向外传播，确定射线空间走向及其强度大小即可完全确定声传播规律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d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代入波动方程，得到程函方程和强度方程</a:t>
                </a:r>
                <a:endParaRPr lang="en-US" altLang="zh-CN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将程函方程进行高频近似，强度方程略去小量，求解得到声场。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593B22-6E5C-42E2-B7AE-039FA8CCF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b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B80B4-E366-4414-8B0E-06D72043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519097-216A-4E87-8C4B-2948F4625C15}"/>
              </a:ext>
            </a:extLst>
          </p:cNvPr>
          <p:cNvSpPr txBox="1"/>
          <p:nvPr/>
        </p:nvSpPr>
        <p:spPr>
          <a:xfrm>
            <a:off x="2512942" y="5512597"/>
            <a:ext cx="726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注：详细推导过程见</a:t>
            </a:r>
            <a:r>
              <a:rPr lang="en-US" altLang="zh-CN" dirty="0"/>
              <a:t>《Computational Ocean </a:t>
            </a:r>
            <a:r>
              <a:rPr lang="en-US" altLang="zh-CN" dirty="0" err="1"/>
              <a:t>Acoustic》Chapter</a:t>
            </a:r>
            <a:r>
              <a:rPr lang="en-US" altLang="zh-CN" dirty="0"/>
              <a:t>. 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61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010B7-FFD0-4415-8762-7594B516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抛物方程模型（</a:t>
            </a:r>
            <a:r>
              <a:rPr lang="en-US" altLang="zh-CN" dirty="0"/>
              <a:t>RAM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20E8BB-0313-42C9-BAAD-D9558C20B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抛物方程法通过对三维波动方程简化求解，得到抛物方程：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对上式简化求解得到递推关系：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𝑟𝑚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𝑟𝑚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>
                    <a:latin typeface="Times New Roman" panose="02020603050405020304" pitchFamily="18" charset="0"/>
                  </a:rPr>
                  <a:t>上方程为</a:t>
                </a:r>
                <a:r>
                  <a:rPr lang="en-US" altLang="zh-CN" b="0" i="0" dirty="0" err="1">
                    <a:effectLst/>
                    <a:latin typeface="Times New Roman" panose="02020603050405020304" pitchFamily="18" charset="0"/>
                  </a:rPr>
                  <a:t>Claerbout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抛物方程的解。在实际的算法中，可以利用简正波法求解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，再利用上式递推求解声场。</a:t>
                </a:r>
                <a:br>
                  <a:rPr lang="en-US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20E8BB-0313-42C9-BAAD-D9558C20B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530" r="-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4ED3D-596B-4895-9D4F-B5553D2B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8A16E3-9861-4054-9684-B5D36BD9C0AF}"/>
              </a:ext>
            </a:extLst>
          </p:cNvPr>
          <p:cNvSpPr txBox="1"/>
          <p:nvPr/>
        </p:nvSpPr>
        <p:spPr>
          <a:xfrm>
            <a:off x="2512942" y="5512597"/>
            <a:ext cx="726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注：详细推导过程见</a:t>
            </a:r>
            <a:r>
              <a:rPr lang="en-US" altLang="zh-CN" dirty="0"/>
              <a:t>《Computational Ocean </a:t>
            </a:r>
            <a:r>
              <a:rPr lang="en-US" altLang="zh-CN" dirty="0" err="1"/>
              <a:t>Acoustic》Chapter</a:t>
            </a:r>
            <a:r>
              <a:rPr lang="en-US" altLang="zh-CN" dirty="0"/>
              <a:t>. 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711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43D20-1F48-4C27-8FCF-CAA92818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应用场景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7E814-90F0-492D-A0A2-FE9D24CE5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：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适用于低频远场的条件，计算速度快，但对海底参数的准确度要求较高，且难以运用在水平变化环境下； 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BELLHOP</a:t>
            </a:r>
            <a:r>
              <a:rPr lang="zh-CN" altLang="en-US" dirty="0"/>
              <a:t>：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 Bellhop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适用于高频声信号，有着较为直观的物理意义，计算速度较快，但在声影区存在一定的误差； 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RAM</a:t>
            </a:r>
            <a:r>
              <a:rPr lang="zh-CN" altLang="en-US" dirty="0"/>
              <a:t>：</a:t>
            </a:r>
            <a:r>
              <a:rPr lang="zh-CN" altLang="zh-CN" sz="1800" dirty="0">
                <a:cs typeface="Times New Roman" panose="02020603050405020304" pitchFamily="18" charset="0"/>
              </a:rPr>
              <a:t>适用于低频远场</a:t>
            </a:r>
            <a:r>
              <a:rPr lang="zh-CN" altLang="en-US" sz="1800" dirty="0"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cs typeface="Times New Roman" panose="02020603050405020304" pitchFamily="18" charset="0"/>
              </a:rPr>
              <a:t>水平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变化环境条件，但其误差随距离增大而累积。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54948B-9748-40E1-8236-4216FA16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8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AFB940-8B7C-41D5-9AAC-1264F01824F6}"/>
              </a:ext>
            </a:extLst>
          </p:cNvPr>
          <p:cNvSpPr/>
          <p:nvPr/>
        </p:nvSpPr>
        <p:spPr>
          <a:xfrm>
            <a:off x="4272421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谢谢观看！</a:t>
            </a:r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637504-E01B-4C1C-B87A-24E2FB13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6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27007-3EDC-4984-87B6-89E9FC283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声学工具箱教程（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dirty="0"/>
              <a:t>KRAKEN</a:t>
            </a:r>
            <a:r>
              <a:rPr lang="zh-CN" altLang="en-US" dirty="0"/>
              <a:t>使用方法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B398D-BA24-4A35-AAF4-EC89A49DA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钱鹏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A64A6-0A8E-4729-AD4B-2967C9DF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3291" y="507801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5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B20B-332E-47D2-8427-F6198F5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调用文件结构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057C6-A126-4A72-926A-FB6747D6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396280" cy="387904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KRAKEN</a:t>
            </a:r>
            <a:r>
              <a:rPr lang="zh-CN" altLang="en-US" b="1" dirty="0"/>
              <a:t>的输入与输出</a:t>
            </a:r>
            <a:endParaRPr lang="en-US" altLang="zh-CN" b="1" dirty="0"/>
          </a:p>
          <a:p>
            <a:r>
              <a:rPr lang="en-US" altLang="zh-CN" dirty="0"/>
              <a:t>.env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en-US" altLang="zh-CN" dirty="0" err="1"/>
              <a:t>flp</a:t>
            </a:r>
            <a:r>
              <a:rPr lang="zh-CN" altLang="en-US" dirty="0"/>
              <a:t>为</a:t>
            </a:r>
            <a:r>
              <a:rPr lang="en-US" altLang="zh-CN" dirty="0"/>
              <a:t>KRAKEN</a:t>
            </a:r>
            <a:r>
              <a:rPr lang="zh-CN" altLang="en-US" dirty="0"/>
              <a:t>的环境文件；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、</a:t>
            </a:r>
            <a:r>
              <a:rPr lang="en-US" altLang="zh-CN" dirty="0"/>
              <a:t>.mod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为</a:t>
            </a:r>
            <a:r>
              <a:rPr lang="en-US" altLang="zh-CN" dirty="0"/>
              <a:t>KRAKEN</a:t>
            </a:r>
            <a:r>
              <a:rPr lang="zh-CN" altLang="en-US" dirty="0"/>
              <a:t>生成文件；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为</a:t>
            </a:r>
            <a:r>
              <a:rPr lang="en-US" altLang="zh-CN" dirty="0"/>
              <a:t>KRAKEN</a:t>
            </a:r>
            <a:r>
              <a:rPr lang="zh-CN" altLang="en-US" dirty="0"/>
              <a:t>生成的注释文件，用来对环境文件的读取和</a:t>
            </a:r>
            <a:r>
              <a:rPr lang="en-US" altLang="zh-CN" dirty="0"/>
              <a:t>KRAKEN</a:t>
            </a:r>
            <a:r>
              <a:rPr lang="zh-CN" altLang="en-US" dirty="0"/>
              <a:t>计算过程进行说明，是文本文件可以直接阅读；</a:t>
            </a:r>
            <a:endParaRPr lang="en-US" altLang="zh-CN" dirty="0"/>
          </a:p>
          <a:p>
            <a:r>
              <a:rPr lang="en-US" altLang="zh-CN" dirty="0"/>
              <a:t>.mod</a:t>
            </a:r>
            <a:r>
              <a:rPr lang="zh-CN" altLang="en-US" dirty="0"/>
              <a:t>文件储存</a:t>
            </a:r>
            <a:r>
              <a:rPr lang="en-US" altLang="zh-CN" dirty="0"/>
              <a:t>KRAKEN</a:t>
            </a:r>
            <a:r>
              <a:rPr lang="zh-CN" altLang="en-US" dirty="0"/>
              <a:t>计算出的特征值和特征函数，是二进制文件，无法直接阅读，可以用</a:t>
            </a:r>
            <a:r>
              <a:rPr lang="en-US" altLang="zh-CN" dirty="0" err="1"/>
              <a:t>read_modes</a:t>
            </a:r>
            <a:r>
              <a:rPr lang="zh-CN" altLang="en-US" dirty="0"/>
              <a:t>函数阅读；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文件为</a:t>
            </a:r>
            <a:r>
              <a:rPr lang="en-US" altLang="zh-CN" dirty="0"/>
              <a:t>KRAKEN</a:t>
            </a:r>
            <a:r>
              <a:rPr lang="zh-CN" altLang="en-US" dirty="0"/>
              <a:t>计算出声压数据，是二进制文件，无法直接阅读，可以用</a:t>
            </a:r>
            <a:r>
              <a:rPr lang="en-US" altLang="zh-CN" dirty="0" err="1"/>
              <a:t>read_shd</a:t>
            </a:r>
            <a:r>
              <a:rPr lang="zh-CN" altLang="en-US" dirty="0"/>
              <a:t>函数读取声压数据，用</a:t>
            </a:r>
            <a:r>
              <a:rPr lang="en-US" altLang="zh-CN" dirty="0" err="1"/>
              <a:t>plotshd</a:t>
            </a:r>
            <a:r>
              <a:rPr lang="zh-CN" altLang="en-US" dirty="0"/>
              <a:t>画传播损失图。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3C9082-F365-4ADF-9E8D-1802CE0D0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21" y="2015732"/>
            <a:ext cx="3307065" cy="30654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0C92ED1-96DE-4FA9-8976-76844D4A2D47}"/>
              </a:ext>
            </a:extLst>
          </p:cNvPr>
          <p:cNvSpPr txBox="1"/>
          <p:nvPr/>
        </p:nvSpPr>
        <p:spPr>
          <a:xfrm>
            <a:off x="6771443" y="5316245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KRAKEN</a:t>
            </a:r>
            <a:r>
              <a:rPr lang="zh-CN" altLang="en-US" dirty="0"/>
              <a:t>的输入与输出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DD61F-D3FF-48D1-8EC0-E0C7A5AB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12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A32DC-DEAE-44F8-B18A-0AC8297D3C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1725" y="261938"/>
            <a:ext cx="9604375" cy="1049337"/>
          </a:xfrm>
        </p:spPr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环境文件参数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477A2-4B38-49EF-AB6C-5651202843F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9200" y="1311275"/>
            <a:ext cx="10118725" cy="455612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'</a:t>
            </a:r>
            <a:r>
              <a:rPr lang="en-US" altLang="zh-CN" sz="1400" dirty="0" err="1"/>
              <a:t>pekeris</a:t>
            </a:r>
            <a:r>
              <a:rPr lang="en-US" altLang="zh-CN" sz="1400" dirty="0"/>
              <a:t>’		! </a:t>
            </a:r>
            <a:r>
              <a:rPr lang="zh-CN" altLang="en-US" sz="1400" dirty="0"/>
              <a:t>标题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500			! </a:t>
            </a:r>
            <a:r>
              <a:rPr lang="zh-CN" altLang="en-US" sz="1400" dirty="0"/>
              <a:t>频率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NMEDIA</a:t>
            </a:r>
            <a:r>
              <a:rPr lang="zh-CN" altLang="en-US" sz="1400" dirty="0"/>
              <a:t>，介质层数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‘NVW’			! OPTION</a:t>
            </a:r>
            <a:r>
              <a:rPr lang="zh-CN" altLang="en-US" sz="1400" dirty="0"/>
              <a:t>，选项。第一个字母代表声速剖面的插值方法，第二个字母代表上半边界</a:t>
            </a:r>
            <a:r>
              <a:rPr lang="en-US" altLang="zh-CN" sz="1400" dirty="0"/>
              <a:t>			</a:t>
            </a:r>
            <a:r>
              <a:rPr lang="zh-CN" altLang="en-US" sz="1400" dirty="0"/>
              <a:t>条件，第三个字母代表衰减系数单位。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51  0.0  100.0		! </a:t>
            </a:r>
            <a:r>
              <a:rPr lang="zh-CN" altLang="en-US" sz="1400" dirty="0"/>
              <a:t>海水竖直网格层个数，界面粗糙度，海水深度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400" dirty="0"/>
              <a:t>    </a:t>
            </a:r>
            <a:r>
              <a:rPr lang="en-US" altLang="zh-CN" sz="1400" dirty="0"/>
              <a:t>0.0  1500.00  0.0  1.0  0.0  0.0 	!</a:t>
            </a:r>
            <a:r>
              <a:rPr lang="zh-CN" altLang="en-US" sz="1400" dirty="0"/>
              <a:t> 深度，纵波速度，横波速度，密度，纵波衰减系数、横波衰减系数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  100.0 1500.00  /		!</a:t>
            </a:r>
            <a:r>
              <a:rPr lang="zh-CN" altLang="en-US" sz="1400" dirty="0"/>
              <a:t> 深度，纵波速度，‘</a:t>
            </a:r>
            <a:r>
              <a:rPr lang="en-US" altLang="zh-CN" sz="1400" dirty="0"/>
              <a:t>/</a:t>
            </a:r>
            <a:r>
              <a:rPr lang="zh-CN" altLang="en-US" sz="1400" dirty="0"/>
              <a:t>’代表后面几项与上面保持一致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‘A’ 0.0              		! </a:t>
            </a:r>
            <a:r>
              <a:rPr lang="zh-CN" altLang="en-US" sz="1400" dirty="0"/>
              <a:t>海底半空间条件，海底粗糙度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400" dirty="0"/>
              <a:t>    </a:t>
            </a:r>
            <a:r>
              <a:rPr lang="en-US" altLang="zh-CN" sz="1400" dirty="0"/>
              <a:t>100.0  1800.00 0.0 1.8 0.0 0.0 / ! </a:t>
            </a:r>
            <a:r>
              <a:rPr lang="zh-CN" altLang="en-US" sz="1400" dirty="0"/>
              <a:t>海底深度，纵波速度度，横波速度，密度，纵波衰减，横波衰减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1400 1800		! CLOW</a:t>
            </a:r>
            <a:r>
              <a:rPr lang="zh-CN" altLang="en-US" sz="1400" dirty="0"/>
              <a:t>，</a:t>
            </a:r>
            <a:r>
              <a:rPr lang="en-US" altLang="zh-CN" sz="1400" dirty="0"/>
              <a:t>CHIGH</a:t>
            </a:r>
            <a:r>
              <a:rPr lang="zh-CN" altLang="en-US" sz="1400" dirty="0"/>
              <a:t>，相速度计算的范围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NSD </a:t>
            </a:r>
            <a:r>
              <a:rPr lang="zh-CN" altLang="en-US" sz="1400" dirty="0"/>
              <a:t>规定声源个数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36.0/			! SD(1:NSD) (m) </a:t>
            </a:r>
            <a:r>
              <a:rPr lang="zh-CN" altLang="en-US" sz="1400" dirty="0"/>
              <a:t>规定声源深度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NRD  </a:t>
            </a:r>
            <a:r>
              <a:rPr lang="zh-CN" altLang="en-US" sz="1400" dirty="0"/>
              <a:t>规定接收器深度取值个数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75.0/			! RD(1:NRD) (m) </a:t>
            </a:r>
            <a:r>
              <a:rPr lang="zh-CN" altLang="en-US" sz="1400" dirty="0"/>
              <a:t>规定接收器深度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endParaRPr lang="zh-CN" altLang="en-US" sz="1400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DE1BFDA-C371-40BB-9870-677BF899A39E}"/>
              </a:ext>
            </a:extLst>
          </p:cNvPr>
          <p:cNvCxnSpPr/>
          <p:nvPr/>
        </p:nvCxnSpPr>
        <p:spPr>
          <a:xfrm>
            <a:off x="1219200" y="786606"/>
            <a:ext cx="9763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141F96-8678-41D3-A5B9-492CAD44FCFE}"/>
              </a:ext>
            </a:extLst>
          </p:cNvPr>
          <p:cNvSpPr txBox="1"/>
          <p:nvPr/>
        </p:nvSpPr>
        <p:spPr>
          <a:xfrm>
            <a:off x="1219200" y="788055"/>
            <a:ext cx="2343150" cy="52322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pekerisK.env</a:t>
            </a:r>
            <a:endParaRPr lang="zh-CN" alt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336299A-969E-49B8-89AB-EA08EF074A84}"/>
              </a:ext>
            </a:extLst>
          </p:cNvPr>
          <p:cNvGrpSpPr/>
          <p:nvPr/>
        </p:nvGrpSpPr>
        <p:grpSpPr>
          <a:xfrm>
            <a:off x="8219642" y="3799036"/>
            <a:ext cx="2079390" cy="1634644"/>
            <a:chOff x="213472" y="201864"/>
            <a:chExt cx="3553946" cy="4477712"/>
          </a:xfrm>
        </p:grpSpPr>
        <p:sp>
          <p:nvSpPr>
            <p:cNvPr id="16" name="圆角矩形 7">
              <a:extLst>
                <a:ext uri="{FF2B5EF4-FFF2-40B4-BE49-F238E27FC236}">
                  <a16:creationId xmlns:a16="http://schemas.microsoft.com/office/drawing/2014/main" id="{0BA4C307-6C57-4A9A-81AB-059710D38CFC}"/>
                </a:ext>
              </a:extLst>
            </p:cNvPr>
            <p:cNvSpPr/>
            <p:nvPr/>
          </p:nvSpPr>
          <p:spPr>
            <a:xfrm>
              <a:off x="1360805" y="4041775"/>
              <a:ext cx="2241550" cy="441960"/>
            </a:xfrm>
            <a:prstGeom prst="roundRect">
              <a:avLst>
                <a:gd name="adj" fmla="val 27011"/>
              </a:avLst>
            </a:prstGeom>
            <a:noFill/>
            <a:ln>
              <a:solidFill>
                <a:srgbClr val="5546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55463D"/>
                  </a:solidFill>
                  <a:latin typeface="罗西钢笔行楷" panose="02010800040101010101" charset="-122"/>
                  <a:ea typeface="罗西钢笔行楷" panose="02010800040101010101" charset="-122"/>
                </a:rPr>
                <a:t>环境参数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1F7F9CBA-6D3A-4F9F-B166-0217A1E8C781}"/>
                    </a:ext>
                  </a:extLst>
                </p:cNvPr>
                <p:cNvSpPr/>
                <p:nvPr/>
              </p:nvSpPr>
              <p:spPr>
                <a:xfrm>
                  <a:off x="220756" y="1393266"/>
                  <a:ext cx="3532094" cy="2564689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海水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1F7F9CBA-6D3A-4F9F-B166-0217A1E8C7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756" y="1393266"/>
                  <a:ext cx="3532094" cy="256468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17E340-FC9A-4E60-BA20-056CB79B57BD}"/>
                </a:ext>
              </a:extLst>
            </p:cNvPr>
            <p:cNvSpPr/>
            <p:nvPr/>
          </p:nvSpPr>
          <p:spPr>
            <a:xfrm>
              <a:off x="213472" y="201864"/>
              <a:ext cx="3546662" cy="11877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55463D"/>
                  </a:solidFill>
                  <a:ea typeface="罗西钢笔行楷" panose="02010800040101010101" charset="-122"/>
                </a:rPr>
                <a:t>空气</a:t>
              </a:r>
            </a:p>
          </p:txBody>
        </p:sp>
        <p:sp>
          <p:nvSpPr>
            <p:cNvPr id="19" name="爆炸形: 8 pt  18">
              <a:extLst>
                <a:ext uri="{FF2B5EF4-FFF2-40B4-BE49-F238E27FC236}">
                  <a16:creationId xmlns:a16="http://schemas.microsoft.com/office/drawing/2014/main" id="{7B1E2AA4-7224-4616-A655-55F124EEAE84}"/>
                </a:ext>
              </a:extLst>
            </p:cNvPr>
            <p:cNvSpPr/>
            <p:nvPr/>
          </p:nvSpPr>
          <p:spPr>
            <a:xfrm>
              <a:off x="220756" y="1844041"/>
              <a:ext cx="200585" cy="197223"/>
            </a:xfrm>
            <a:prstGeom prst="irregularSeal1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6C36663-995A-4049-A997-EBA17A1619BD}"/>
                    </a:ext>
                  </a:extLst>
                </p:cNvPr>
                <p:cNvSpPr/>
                <p:nvPr/>
              </p:nvSpPr>
              <p:spPr>
                <a:xfrm>
                  <a:off x="220756" y="3957955"/>
                  <a:ext cx="3546662" cy="72162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海底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6C36663-995A-4049-A997-EBA17A1619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756" y="3957955"/>
                  <a:ext cx="3546662" cy="721621"/>
                </a:xfrm>
                <a:prstGeom prst="rect">
                  <a:avLst/>
                </a:prstGeom>
                <a:blipFill>
                  <a:blip r:embed="rId3"/>
                  <a:stretch>
                    <a:fillRect t="-6667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368260E-8980-4BB3-9F85-006768A4E6D0}"/>
                    </a:ext>
                  </a:extLst>
                </p:cNvPr>
                <p:cNvSpPr txBox="1"/>
                <p:nvPr/>
              </p:nvSpPr>
              <p:spPr>
                <a:xfrm>
                  <a:off x="421340" y="1726683"/>
                  <a:ext cx="939465" cy="3778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声源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368260E-8980-4BB3-9F85-006768A4E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40" y="1726683"/>
                  <a:ext cx="939465" cy="377823"/>
                </a:xfrm>
                <a:prstGeom prst="rect">
                  <a:avLst/>
                </a:prstGeom>
                <a:blipFill>
                  <a:blip r:embed="rId4"/>
                  <a:stretch>
                    <a:fillRect l="-3333" r="-22222" b="-20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E46D7A6-4C96-4B64-A9B3-6424F3608787}"/>
              </a:ext>
            </a:extLst>
          </p:cNvPr>
          <p:cNvSpPr txBox="1"/>
          <p:nvPr/>
        </p:nvSpPr>
        <p:spPr>
          <a:xfrm>
            <a:off x="8000531" y="5702062"/>
            <a:ext cx="2503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 err="1"/>
              <a:t>pekeris</a:t>
            </a:r>
            <a:r>
              <a:rPr lang="zh-CN" altLang="en-US" dirty="0"/>
              <a:t>海洋环境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DE2378-8689-4E64-9D50-2CEF0034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0B8110-5525-4393-9B9B-77970F1C685F}"/>
              </a:ext>
            </a:extLst>
          </p:cNvPr>
          <p:cNvSpPr txBox="1"/>
          <p:nvPr/>
        </p:nvSpPr>
        <p:spPr>
          <a:xfrm>
            <a:off x="1424354" y="4730262"/>
            <a:ext cx="5627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注：详见</a:t>
            </a:r>
            <a:r>
              <a:rPr lang="en-US" altLang="zh-CN" dirty="0"/>
              <a:t>《The KRAKEN Normal Mode Program (DRAFT)》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73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A32DC-DEAE-44F8-B18A-0AC8297D3C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1725" y="261938"/>
            <a:ext cx="9604375" cy="1049337"/>
          </a:xfrm>
        </p:spPr>
        <p:txBody>
          <a:bodyPr/>
          <a:lstStyle/>
          <a:p>
            <a:r>
              <a:rPr lang="en-US" altLang="zh-CN" dirty="0"/>
              <a:t>kraken</a:t>
            </a:r>
            <a:r>
              <a:rPr lang="zh-CN" altLang="en-US" dirty="0"/>
              <a:t>环境文件参数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477A2-4B38-49EF-AB6C-5651202843F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9200" y="1311275"/>
            <a:ext cx="10118725" cy="455612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</a:t>
            </a:r>
            <a:r>
              <a:rPr lang="en-US" altLang="zh-CN" sz="1400" dirty="0" err="1"/>
              <a:t>pekeris</a:t>
            </a:r>
            <a:r>
              <a:rPr lang="en-US" altLang="zh-CN" sz="1400" dirty="0"/>
              <a:t>’		! </a:t>
            </a:r>
            <a:r>
              <a:rPr lang="zh-CN" altLang="en-US" sz="1400" dirty="0"/>
              <a:t>标题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‘RA’			! SOURCE OPTION </a:t>
            </a:r>
            <a:r>
              <a:rPr lang="zh-CN" altLang="en-US" sz="1400" dirty="0"/>
              <a:t>声源选项，第一个字母中‘</a:t>
            </a:r>
            <a:r>
              <a:rPr lang="en-US" altLang="zh-CN" sz="1400" dirty="0"/>
              <a:t>R</a:t>
            </a:r>
            <a:r>
              <a:rPr lang="zh-CN" altLang="en-US" sz="1400" dirty="0"/>
              <a:t>’代表点源，‘</a:t>
            </a:r>
            <a:r>
              <a:rPr lang="en-US" altLang="zh-CN" sz="1400" dirty="0"/>
              <a:t>X</a:t>
            </a:r>
            <a:r>
              <a:rPr lang="zh-CN" altLang="en-US" sz="1400" dirty="0"/>
              <a:t>’代表线源，第二个字母代表模</a:t>
            </a:r>
            <a:r>
              <a:rPr lang="en-US" altLang="zh-CN" sz="1400" dirty="0"/>
              <a:t>			</a:t>
            </a:r>
            <a:r>
              <a:rPr lang="zh-CN" altLang="en-US" sz="1400" dirty="0"/>
              <a:t>式理论的选择，‘</a:t>
            </a:r>
            <a:r>
              <a:rPr lang="en-US" altLang="zh-CN" sz="1400" dirty="0"/>
              <a:t>C</a:t>
            </a:r>
            <a:r>
              <a:rPr lang="zh-CN" altLang="en-US" sz="1400" dirty="0"/>
              <a:t>’代表耦合模式理论，‘</a:t>
            </a:r>
            <a:r>
              <a:rPr lang="en-US" altLang="zh-CN" sz="1400" dirty="0"/>
              <a:t>A</a:t>
            </a:r>
            <a:r>
              <a:rPr lang="zh-CN" altLang="en-US" sz="1400" dirty="0"/>
              <a:t>’代表绝热模式理论。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9999			! M  (number of modes to include) </a:t>
            </a:r>
            <a:r>
              <a:rPr lang="zh-CN" altLang="en-US" sz="1400" dirty="0"/>
              <a:t>模式个数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</a:t>
            </a:r>
            <a:r>
              <a:rPr lang="zh-CN" altLang="en-US" sz="1400" dirty="0"/>
              <a:t>声速剖面个数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   0.0 100.0 /		! RPROF(1:NPROF) (km)  </a:t>
            </a:r>
            <a:r>
              <a:rPr lang="zh-CN" altLang="en-US" sz="1400" dirty="0"/>
              <a:t>声速剖面范围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</a:t>
            </a:r>
            <a:r>
              <a:rPr lang="zh-CN" altLang="en-US" sz="1400" dirty="0"/>
              <a:t> </a:t>
            </a:r>
            <a:r>
              <a:rPr lang="en-US" altLang="zh-CN" sz="1400" dirty="0"/>
              <a:t>NR </a:t>
            </a:r>
            <a:r>
              <a:rPr lang="zh-CN" altLang="en-US" sz="1400" dirty="0"/>
              <a:t>接收器水平个数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30 /			! RMIN,   RMAX (km) </a:t>
            </a:r>
            <a:r>
              <a:rPr lang="zh-CN" altLang="en-US" sz="1400" dirty="0"/>
              <a:t>接收器水平距离范围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NSD </a:t>
            </a:r>
            <a:r>
              <a:rPr lang="zh-CN" altLang="en-US" sz="1400" dirty="0"/>
              <a:t>声源个数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 25 /			! SD(1:NSD) </a:t>
            </a:r>
            <a:r>
              <a:rPr lang="zh-CN" altLang="en-US" sz="1400" dirty="0"/>
              <a:t>声源深度范围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11			! NRD </a:t>
            </a:r>
            <a:r>
              <a:rPr lang="zh-CN" altLang="en-US" sz="1400" dirty="0"/>
              <a:t>接收器竖直个数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0 100  /		! RD(1:NRD) </a:t>
            </a:r>
            <a:r>
              <a:rPr lang="zh-CN" altLang="en-US" sz="1400" dirty="0"/>
              <a:t>接收器深度范围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11			!</a:t>
            </a:r>
            <a:r>
              <a:rPr lang="zh-CN" altLang="en-US" sz="1400" dirty="0"/>
              <a:t> </a:t>
            </a:r>
            <a:r>
              <a:rPr lang="en-US" altLang="zh-CN" sz="1400" dirty="0"/>
              <a:t>NRD </a:t>
            </a:r>
            <a:r>
              <a:rPr lang="zh-CN" altLang="en-US" sz="1400" dirty="0"/>
              <a:t>接收器竖直个数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  0  /			! RR(1:NRR)   (m) </a:t>
            </a:r>
            <a:r>
              <a:rPr lang="zh-CN" altLang="en-US" sz="1400" dirty="0"/>
              <a:t>接收器在水平方向的偏移（倾斜阵）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DE1BFDA-C371-40BB-9870-677BF899A39E}"/>
              </a:ext>
            </a:extLst>
          </p:cNvPr>
          <p:cNvCxnSpPr/>
          <p:nvPr/>
        </p:nvCxnSpPr>
        <p:spPr>
          <a:xfrm>
            <a:off x="1219200" y="786606"/>
            <a:ext cx="9763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141F96-8678-41D3-A5B9-492CAD44FCFE}"/>
              </a:ext>
            </a:extLst>
          </p:cNvPr>
          <p:cNvSpPr txBox="1"/>
          <p:nvPr/>
        </p:nvSpPr>
        <p:spPr>
          <a:xfrm>
            <a:off x="1219200" y="788055"/>
            <a:ext cx="2343150" cy="52322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pekerisK.flp</a:t>
            </a:r>
            <a:endParaRPr lang="zh-CN" alt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1702F6-7310-4D15-99AA-B98EDB07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718A6A-794F-4AD7-B4F0-F14AE133B667}"/>
              </a:ext>
            </a:extLst>
          </p:cNvPr>
          <p:cNvSpPr txBox="1"/>
          <p:nvPr/>
        </p:nvSpPr>
        <p:spPr>
          <a:xfrm>
            <a:off x="1424354" y="4730262"/>
            <a:ext cx="5627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注：详见</a:t>
            </a:r>
            <a:r>
              <a:rPr lang="en-US" altLang="zh-CN" dirty="0"/>
              <a:t>《The KRAKEN Normal Mode Program (DRAFT)》p79-103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639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kraken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kraken filename </a:t>
            </a:r>
            <a:r>
              <a:rPr lang="zh-CN" altLang="en-US" dirty="0"/>
              <a:t>或者</a:t>
            </a:r>
            <a:r>
              <a:rPr lang="en-US" altLang="zh-CN" dirty="0"/>
              <a:t> kraken(filename) </a:t>
            </a:r>
          </a:p>
          <a:p>
            <a:r>
              <a:rPr lang="zh-CN" altLang="en-US" dirty="0"/>
              <a:t>计算声场，得到</a:t>
            </a:r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、</a:t>
            </a:r>
            <a:r>
              <a:rPr lang="en-US" altLang="zh-CN" dirty="0"/>
              <a:t>.mode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kraken </a:t>
            </a:r>
            <a:r>
              <a:rPr lang="en-US" altLang="zh-CN" dirty="0" err="1"/>
              <a:t>MunkK</a:t>
            </a:r>
            <a:r>
              <a:rPr lang="en-US" altLang="zh-CN" dirty="0"/>
              <a:t> </a:t>
            </a:r>
            <a:r>
              <a:rPr lang="zh-CN" altLang="en-US" dirty="0"/>
              <a:t>或者 </a:t>
            </a:r>
            <a:r>
              <a:rPr lang="en-US" altLang="zh-CN" dirty="0"/>
              <a:t>kraken(‘</a:t>
            </a:r>
            <a:r>
              <a:rPr lang="en-US" altLang="zh-CN" dirty="0" err="1"/>
              <a:t>MunkK</a:t>
            </a:r>
            <a:r>
              <a:rPr lang="en-US" altLang="zh-CN" dirty="0"/>
              <a:t>’)</a:t>
            </a:r>
          </a:p>
          <a:p>
            <a:r>
              <a:rPr lang="en-US" altLang="zh-CN" dirty="0" err="1"/>
              <a:t>plotssp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画声速剖面，并输出声场计算初始化信息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plotssp</a:t>
            </a:r>
            <a:r>
              <a:rPr lang="en-US" altLang="zh-CN" dirty="0"/>
              <a:t> </a:t>
            </a:r>
            <a:r>
              <a:rPr lang="en-US" altLang="zh-CN" dirty="0" err="1"/>
              <a:t>MunkK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881A04-D5E4-403F-ACFD-6C33AD26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5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kraken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[ </a:t>
            </a:r>
            <a:r>
              <a:rPr lang="en-US" altLang="zh-CN" dirty="0" err="1"/>
              <a:t>PlotTitle</a:t>
            </a:r>
            <a:r>
              <a:rPr lang="en-US" altLang="zh-CN" dirty="0"/>
              <a:t>, </a:t>
            </a:r>
            <a:r>
              <a:rPr lang="en-US" altLang="zh-CN" dirty="0" err="1"/>
              <a:t>PlotType</a:t>
            </a:r>
            <a:r>
              <a:rPr lang="en-US" altLang="zh-CN" dirty="0"/>
              <a:t>, </a:t>
            </a:r>
            <a:r>
              <a:rPr lang="en-US" altLang="zh-CN" dirty="0" err="1"/>
              <a:t>freqVec</a:t>
            </a:r>
            <a:r>
              <a:rPr lang="en-US" altLang="zh-CN" dirty="0"/>
              <a:t>, </a:t>
            </a:r>
            <a:r>
              <a:rPr lang="en-US" altLang="zh-CN" dirty="0" err="1"/>
              <a:t>atten</a:t>
            </a:r>
            <a:r>
              <a:rPr lang="en-US" altLang="zh-CN" dirty="0"/>
              <a:t>, Pos, pressure ] = </a:t>
            </a:r>
            <a:r>
              <a:rPr lang="en-US" altLang="zh-CN" dirty="0" err="1"/>
              <a:t>read_shd</a:t>
            </a:r>
            <a:r>
              <a:rPr lang="en-US" altLang="zh-CN" dirty="0"/>
              <a:t>( filename )</a:t>
            </a:r>
          </a:p>
          <a:p>
            <a:r>
              <a:rPr lang="zh-CN" altLang="en-US" dirty="0"/>
              <a:t>读取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文件，得到声压场，其中</a:t>
            </a:r>
            <a:r>
              <a:rPr lang="en-US" altLang="zh-CN" dirty="0" err="1"/>
              <a:t>PlotTitle</a:t>
            </a:r>
            <a:r>
              <a:rPr lang="zh-CN" altLang="en-US" dirty="0"/>
              <a:t>、</a:t>
            </a:r>
            <a:r>
              <a:rPr lang="en-US" altLang="zh-CN" dirty="0" err="1"/>
              <a:t>PlotType</a:t>
            </a:r>
            <a:r>
              <a:rPr lang="zh-CN" altLang="en-US" dirty="0"/>
              <a:t>为画传播损失做准备，</a:t>
            </a:r>
            <a:r>
              <a:rPr lang="en-US" altLang="zh-CN" dirty="0" err="1"/>
              <a:t>freqVec</a:t>
            </a:r>
            <a:r>
              <a:rPr lang="zh-CN" altLang="en-US" dirty="0"/>
              <a:t>为频率向量，</a:t>
            </a:r>
            <a:r>
              <a:rPr lang="en-US" altLang="zh-CN" dirty="0" err="1"/>
              <a:t>atten</a:t>
            </a:r>
            <a:r>
              <a:rPr lang="zh-CN" altLang="en-US" dirty="0"/>
              <a:t>为衰减，</a:t>
            </a:r>
            <a:r>
              <a:rPr lang="en-US" altLang="zh-CN" dirty="0"/>
              <a:t>Pos</a:t>
            </a:r>
            <a:r>
              <a:rPr lang="zh-CN" altLang="en-US" dirty="0"/>
              <a:t>为声源和接收器的位置信息，</a:t>
            </a:r>
            <a:r>
              <a:rPr lang="en-US" altLang="zh-CN" dirty="0"/>
              <a:t>pressure</a:t>
            </a:r>
            <a:r>
              <a:rPr lang="zh-CN" altLang="en-US" dirty="0"/>
              <a:t>为声压场。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read_shd</a:t>
            </a:r>
            <a:r>
              <a:rPr lang="en-US" altLang="zh-CN" dirty="0"/>
              <a:t>(‘</a:t>
            </a:r>
            <a:r>
              <a:rPr lang="en-US" altLang="zh-CN" dirty="0" err="1"/>
              <a:t>MunkK</a:t>
            </a:r>
            <a:r>
              <a:rPr lang="en-US" altLang="zh-CN" dirty="0"/>
              <a:t>’)</a:t>
            </a:r>
          </a:p>
          <a:p>
            <a:r>
              <a:rPr lang="en-US" altLang="zh-CN" dirty="0" err="1"/>
              <a:t>plotshd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画传播损失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plotshd</a:t>
            </a:r>
            <a:r>
              <a:rPr lang="en-US" altLang="zh-CN" dirty="0"/>
              <a:t> </a:t>
            </a:r>
            <a:r>
              <a:rPr lang="en-US" altLang="zh-CN" dirty="0" err="1"/>
              <a:t>MunkK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DBF78-61A1-4D88-A4BC-C2347988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59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327D6-0D24-4D09-ACBA-E9ECA294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7D954E-3779-489A-9151-519CF425147F}"/>
              </a:ext>
            </a:extLst>
          </p:cNvPr>
          <p:cNvSpPr txBox="1"/>
          <p:nvPr/>
        </p:nvSpPr>
        <p:spPr>
          <a:xfrm>
            <a:off x="5085184" y="2304661"/>
            <a:ext cx="5427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使用左图所示的环境仿真声场，使用</a:t>
            </a:r>
            <a:r>
              <a:rPr lang="en-US" altLang="zh-CN" dirty="0"/>
              <a:t>KRAKE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三种方法，要求画出距离为</a:t>
            </a:r>
            <a:r>
              <a:rPr lang="en-US" altLang="zh-CN" dirty="0"/>
              <a:t>0-100km</a:t>
            </a:r>
            <a:r>
              <a:rPr lang="zh-CN" altLang="en-US" dirty="0"/>
              <a:t>，深度为</a:t>
            </a:r>
            <a:r>
              <a:rPr lang="en-US" altLang="zh-CN" dirty="0"/>
              <a:t>0-5000m</a:t>
            </a:r>
            <a:r>
              <a:rPr lang="zh-CN" altLang="en-US" dirty="0"/>
              <a:t>的传播损失图像，得到声压矩阵。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AB5CE0-1FEB-47D3-98EF-5DEA3189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B9676C-75B9-4A7B-A0E4-ABC5D878908D}"/>
              </a:ext>
            </a:extLst>
          </p:cNvPr>
          <p:cNvSpPr txBox="1"/>
          <p:nvPr/>
        </p:nvSpPr>
        <p:spPr>
          <a:xfrm>
            <a:off x="1864310" y="5508660"/>
            <a:ext cx="264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：环境参数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FF7738-B7D5-4B16-A280-A48962FA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07" y="2002633"/>
            <a:ext cx="2901948" cy="3450635"/>
          </a:xfrm>
          <a:prstGeom prst="rect">
            <a:avLst/>
          </a:prstGeom>
        </p:spPr>
      </p:pic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3305493-E52B-42DA-A741-4905D0AF7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933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AFB940-8B7C-41D5-9AAC-1264F01824F6}"/>
              </a:ext>
            </a:extLst>
          </p:cNvPr>
          <p:cNvSpPr/>
          <p:nvPr/>
        </p:nvSpPr>
        <p:spPr>
          <a:xfrm>
            <a:off x="4272421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谢谢观看！</a:t>
            </a:r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637504-E01B-4C1C-B87A-24E2FB13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5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27007-3EDC-4984-87B6-89E9FC283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声学工具箱教程（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dirty="0"/>
              <a:t>BELLHOP</a:t>
            </a:r>
            <a:r>
              <a:rPr lang="zh-CN" altLang="en-US" dirty="0"/>
              <a:t>使用方法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B398D-BA24-4A35-AAF4-EC89A49DA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钱鹏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A64A6-0A8E-4729-AD4B-2967C9DF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3291" y="507801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89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B20B-332E-47D2-8427-F6198F5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BELLHOP</a:t>
            </a:r>
            <a:r>
              <a:rPr lang="zh-CN" altLang="en-US" dirty="0"/>
              <a:t>调用结构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057C6-A126-4A72-926A-FB6747D6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396280" cy="387904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BELLHOP</a:t>
            </a:r>
            <a:r>
              <a:rPr lang="zh-CN" altLang="en-US" b="1" dirty="0"/>
              <a:t>的输入与输出</a:t>
            </a:r>
            <a:endParaRPr lang="en-US" altLang="zh-CN" b="1" dirty="0"/>
          </a:p>
          <a:p>
            <a:r>
              <a:rPr lang="en-US" altLang="zh-CN" dirty="0"/>
              <a:t>.env</a:t>
            </a:r>
            <a:r>
              <a:rPr lang="zh-CN" altLang="en-US" dirty="0"/>
              <a:t>为</a:t>
            </a:r>
            <a:r>
              <a:rPr lang="en-US" altLang="zh-CN" dirty="0"/>
              <a:t>BELLHOP</a:t>
            </a:r>
            <a:r>
              <a:rPr lang="zh-CN" altLang="en-US" dirty="0"/>
              <a:t>的环境文件，当存在海底山脉时，需要</a:t>
            </a:r>
            <a:r>
              <a:rPr lang="en-US" altLang="zh-CN" dirty="0"/>
              <a:t>.</a:t>
            </a:r>
            <a:r>
              <a:rPr lang="en-US" altLang="zh-CN" dirty="0" err="1"/>
              <a:t>bty</a:t>
            </a:r>
            <a:r>
              <a:rPr lang="zh-CN" altLang="en-US" dirty="0"/>
              <a:t>文件；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、</a:t>
            </a:r>
            <a:r>
              <a:rPr lang="en-US" altLang="zh-CN" dirty="0"/>
              <a:t>.ray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等为</a:t>
            </a:r>
            <a:r>
              <a:rPr lang="en-US" altLang="zh-CN" dirty="0"/>
              <a:t>BELLHOP</a:t>
            </a:r>
            <a:r>
              <a:rPr lang="zh-CN" altLang="en-US" dirty="0"/>
              <a:t>生成文件；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为</a:t>
            </a:r>
            <a:r>
              <a:rPr lang="en-US" altLang="zh-CN" dirty="0"/>
              <a:t>BELLHOP</a:t>
            </a:r>
            <a:r>
              <a:rPr lang="zh-CN" altLang="en-US" dirty="0"/>
              <a:t>生成的注释文件，用来对环境文件的读取和</a:t>
            </a:r>
            <a:r>
              <a:rPr lang="en-US" altLang="zh-CN" dirty="0"/>
              <a:t>BELLHOP</a:t>
            </a:r>
            <a:r>
              <a:rPr lang="zh-CN" altLang="en-US" dirty="0"/>
              <a:t>计算过程进行说明，是文本文件可以直接阅读；</a:t>
            </a:r>
            <a:endParaRPr lang="en-US" altLang="zh-CN" dirty="0"/>
          </a:p>
          <a:p>
            <a:r>
              <a:rPr lang="en-US" altLang="zh-CN" dirty="0"/>
              <a:t>.ray</a:t>
            </a:r>
            <a:r>
              <a:rPr lang="zh-CN" altLang="en-US" dirty="0"/>
              <a:t>为声线文件，可以使用</a:t>
            </a:r>
            <a:r>
              <a:rPr lang="en-US" altLang="zh-CN" dirty="0" err="1"/>
              <a:t>plotray</a:t>
            </a:r>
            <a:r>
              <a:rPr lang="zh-CN" altLang="en-US" dirty="0"/>
              <a:t>函数画声线图；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文件为</a:t>
            </a:r>
            <a:r>
              <a:rPr lang="en-US" altLang="zh-CN" dirty="0"/>
              <a:t>BELLHOP</a:t>
            </a:r>
            <a:r>
              <a:rPr lang="zh-CN" altLang="en-US" dirty="0"/>
              <a:t>计算出声压数据，是二进制文件，无法直接阅读，可以用</a:t>
            </a:r>
            <a:r>
              <a:rPr lang="en-US" altLang="zh-CN" dirty="0" err="1"/>
              <a:t>read_shd</a:t>
            </a:r>
            <a:r>
              <a:rPr lang="zh-CN" altLang="en-US" dirty="0"/>
              <a:t>函数读取声压数据，利用</a:t>
            </a:r>
            <a:r>
              <a:rPr lang="en-US" altLang="zh-CN" dirty="0" err="1"/>
              <a:t>plotshd</a:t>
            </a:r>
            <a:r>
              <a:rPr lang="zh-CN" altLang="en-US" dirty="0"/>
              <a:t>画传播损失图。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C92ED1-96DE-4FA9-8976-76844D4A2D47}"/>
              </a:ext>
            </a:extLst>
          </p:cNvPr>
          <p:cNvSpPr txBox="1"/>
          <p:nvPr/>
        </p:nvSpPr>
        <p:spPr>
          <a:xfrm>
            <a:off x="6771443" y="5316245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BELLHOP</a:t>
            </a:r>
            <a:r>
              <a:rPr lang="zh-CN" altLang="en-US" dirty="0"/>
              <a:t>的输入与输出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68FA89B-AC84-491B-B815-6A2E5683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495" y="2363638"/>
            <a:ext cx="3583293" cy="287418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79DFD-F30C-4AD8-9C38-DAE1C168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5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A32DC-DEAE-44F8-B18A-0AC8297D3C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1725" y="261938"/>
            <a:ext cx="9604375" cy="1049337"/>
          </a:xfrm>
        </p:spPr>
        <p:txBody>
          <a:bodyPr/>
          <a:lstStyle/>
          <a:p>
            <a:r>
              <a:rPr lang="en-US" altLang="zh-CN" dirty="0"/>
              <a:t>BELLHOP</a:t>
            </a:r>
            <a:r>
              <a:rPr lang="zh-CN" altLang="en-US" dirty="0"/>
              <a:t>环境文件参数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477A2-4B38-49EF-AB6C-5651202843F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9200" y="1311275"/>
            <a:ext cx="10118725" cy="455612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'</a:t>
            </a:r>
            <a:r>
              <a:rPr lang="en-US" altLang="zh-CN" sz="1400" dirty="0" err="1"/>
              <a:t>pekeris</a:t>
            </a:r>
            <a:r>
              <a:rPr lang="en-US" altLang="zh-CN" sz="1400" dirty="0"/>
              <a:t>’		! </a:t>
            </a:r>
            <a:r>
              <a:rPr lang="zh-CN" altLang="en-US" sz="1400" dirty="0"/>
              <a:t>标题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500			! </a:t>
            </a:r>
            <a:r>
              <a:rPr lang="zh-CN" altLang="en-US" sz="1400" dirty="0"/>
              <a:t>频率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NMEDIA</a:t>
            </a:r>
            <a:r>
              <a:rPr lang="zh-CN" altLang="en-US" sz="1400" dirty="0"/>
              <a:t>，介质层数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‘NVW’			! OPTION</a:t>
            </a:r>
            <a:r>
              <a:rPr lang="zh-CN" altLang="en-US" sz="1400" dirty="0"/>
              <a:t>，选项。第一个字母代表声速剖面的插值方法，第二个字母代表上半边界</a:t>
            </a:r>
            <a:r>
              <a:rPr lang="en-US" altLang="zh-CN" sz="1400" dirty="0"/>
              <a:t>			</a:t>
            </a:r>
            <a:r>
              <a:rPr lang="zh-CN" altLang="en-US" sz="1400" dirty="0"/>
              <a:t>条件，第三个字母代表衰减系数单位。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51  0.0  100.0		! </a:t>
            </a:r>
            <a:r>
              <a:rPr lang="zh-CN" altLang="en-US" sz="1400" dirty="0"/>
              <a:t>海水分层个数，界面粗糙度，海水深度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400" dirty="0"/>
              <a:t>    </a:t>
            </a:r>
            <a:r>
              <a:rPr lang="en-US" altLang="zh-CN" sz="1400" dirty="0"/>
              <a:t>0.0  1500.00  0.0  1.0  0.0  0.0 	!</a:t>
            </a:r>
            <a:r>
              <a:rPr lang="zh-CN" altLang="en-US" sz="1400" dirty="0"/>
              <a:t> 深度，纵波速度度，横波速度，密度，纵波衰减，横波衰减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    100.0 1500.00  /		!</a:t>
            </a:r>
            <a:r>
              <a:rPr lang="zh-CN" altLang="en-US" sz="1400" dirty="0"/>
              <a:t> 深度，纵波速，‘</a:t>
            </a:r>
            <a:r>
              <a:rPr lang="en-US" altLang="zh-CN" sz="1400" dirty="0"/>
              <a:t>/</a:t>
            </a:r>
            <a:r>
              <a:rPr lang="zh-CN" altLang="en-US" sz="1400" dirty="0"/>
              <a:t>’代表后面几项与上面保持一致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‘A’ 0.0              		! </a:t>
            </a:r>
            <a:r>
              <a:rPr lang="zh-CN" altLang="en-US" sz="1400" dirty="0"/>
              <a:t>海底半空间条件，海底粗糙度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400" dirty="0"/>
              <a:t>    </a:t>
            </a:r>
            <a:r>
              <a:rPr lang="en-US" altLang="zh-CN" sz="1400" dirty="0"/>
              <a:t>100.0  1800.00 0.0 1.8 0.0 0.0 / ! </a:t>
            </a:r>
            <a:r>
              <a:rPr lang="zh-CN" altLang="en-US" sz="1400" dirty="0"/>
              <a:t>海底深度，纵波速度度，横波速度，密度，纵波衰减，横波衰减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NSD </a:t>
            </a:r>
            <a:r>
              <a:rPr lang="zh-CN" altLang="en-US" sz="1400" dirty="0"/>
              <a:t>规定声源个数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36.0/			! SD(1:NSD) (m) </a:t>
            </a:r>
            <a:r>
              <a:rPr lang="zh-CN" altLang="en-US" sz="1400" dirty="0"/>
              <a:t>规定声源深度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			! NRD  </a:t>
            </a:r>
            <a:r>
              <a:rPr lang="zh-CN" altLang="en-US" sz="1400" dirty="0"/>
              <a:t>规定接收器深度取值个数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75.0/			! RD(1:NRD) (m) </a:t>
            </a:r>
            <a:r>
              <a:rPr lang="zh-CN" altLang="en-US" sz="1400" dirty="0"/>
              <a:t>规定接收器深度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10001			! NR </a:t>
            </a:r>
            <a:r>
              <a:rPr lang="zh-CN" altLang="en-US" sz="1400" dirty="0"/>
              <a:t>规定接收器水平范围取值个数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0.0  10.0 /		! R(1:NR ) (km)</a:t>
            </a:r>
            <a:r>
              <a:rPr lang="zh-CN" altLang="en-US" sz="1400" dirty="0"/>
              <a:t>规定接收器水平范围取值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'CGB'	  		! 'R/C/I/S'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0			! </a:t>
            </a:r>
            <a:r>
              <a:rPr lang="en-US" altLang="zh-CN" sz="1400" dirty="0" err="1"/>
              <a:t>NBeams</a:t>
            </a:r>
            <a:r>
              <a:rPr lang="en-US" altLang="zh-CN" sz="1400" dirty="0"/>
              <a:t> </a:t>
            </a:r>
            <a:r>
              <a:rPr lang="zh-CN" altLang="en-US" sz="1400" dirty="0"/>
              <a:t>规定绘制的声线数量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-35.0 35.0 /		! ALPHA1,2 (degrees) </a:t>
            </a:r>
            <a:r>
              <a:rPr lang="zh-CN" altLang="en-US" sz="1400" dirty="0"/>
              <a:t>声源声线出射掠射角范围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1400" dirty="0"/>
              <a:t>0.0  100.0  10.0		! STEP (m), ZBOX (m), RBOX (km)</a:t>
            </a:r>
            <a:r>
              <a:rPr lang="zh-CN" altLang="en-US" sz="1400" dirty="0"/>
              <a:t>规定步长和声场绘制范围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circleNumDbPlain"/>
            </a:pPr>
            <a:endParaRPr lang="zh-CN" altLang="en-US" sz="1400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DE1BFDA-C371-40BB-9870-677BF899A39E}"/>
              </a:ext>
            </a:extLst>
          </p:cNvPr>
          <p:cNvCxnSpPr/>
          <p:nvPr/>
        </p:nvCxnSpPr>
        <p:spPr>
          <a:xfrm>
            <a:off x="1219200" y="786606"/>
            <a:ext cx="9763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141F96-8678-41D3-A5B9-492CAD44FCFE}"/>
              </a:ext>
            </a:extLst>
          </p:cNvPr>
          <p:cNvSpPr txBox="1"/>
          <p:nvPr/>
        </p:nvSpPr>
        <p:spPr>
          <a:xfrm>
            <a:off x="1219200" y="788055"/>
            <a:ext cx="2343150" cy="52322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pekerisB.env</a:t>
            </a:r>
            <a:endParaRPr lang="zh-CN" alt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468035-2FCB-4938-9569-C9A3D2E1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94FFFF-EBF3-4074-8DD9-7501B9C53857}"/>
              </a:ext>
            </a:extLst>
          </p:cNvPr>
          <p:cNvSpPr txBox="1"/>
          <p:nvPr/>
        </p:nvSpPr>
        <p:spPr>
          <a:xfrm>
            <a:off x="8203786" y="3694015"/>
            <a:ext cx="35953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注：详见</a:t>
            </a:r>
            <a:r>
              <a:rPr lang="en-US" altLang="zh-CN" dirty="0"/>
              <a:t>《The BELLHOP Manual and User’s Guide: PRELIMINARY DRAFT》 p.9-10</a:t>
            </a:r>
          </a:p>
          <a:p>
            <a:r>
              <a:rPr lang="en-US" altLang="zh-CN" dirty="0"/>
              <a:t>《Computational Ocean </a:t>
            </a:r>
            <a:r>
              <a:rPr lang="en-US" altLang="zh-CN" dirty="0" err="1"/>
              <a:t>Acoustic》Chapter</a:t>
            </a:r>
            <a:r>
              <a:rPr lang="en-US" altLang="zh-CN" dirty="0"/>
              <a:t>. 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992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BELLHOP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bellhop filename </a:t>
            </a:r>
            <a:r>
              <a:rPr lang="zh-CN" altLang="en-US" dirty="0"/>
              <a:t>或者</a:t>
            </a:r>
            <a:r>
              <a:rPr lang="en-US" altLang="zh-CN" dirty="0"/>
              <a:t> bellhop(filename) </a:t>
            </a:r>
          </a:p>
          <a:p>
            <a:r>
              <a:rPr lang="zh-CN" altLang="en-US" dirty="0"/>
              <a:t>计算声场，得到</a:t>
            </a:r>
            <a:r>
              <a:rPr lang="en-US" altLang="zh-CN" dirty="0"/>
              <a:t>.</a:t>
            </a:r>
            <a:r>
              <a:rPr lang="en-US" altLang="zh-CN" dirty="0" err="1"/>
              <a:t>prt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或</a:t>
            </a:r>
            <a:r>
              <a:rPr lang="en-US" altLang="zh-CN" dirty="0"/>
              <a:t>.</a:t>
            </a:r>
            <a:r>
              <a:rPr lang="en-US" altLang="zh-CN" dirty="0" err="1"/>
              <a:t>arr</a:t>
            </a:r>
            <a:r>
              <a:rPr lang="zh-CN" altLang="en-US" dirty="0"/>
              <a:t>等文件（取决于计算选项）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bellhop </a:t>
            </a:r>
            <a:r>
              <a:rPr lang="en-US" altLang="zh-CN" dirty="0" err="1"/>
              <a:t>MunkB</a:t>
            </a:r>
            <a:r>
              <a:rPr lang="en-US" altLang="zh-CN" dirty="0"/>
              <a:t> </a:t>
            </a:r>
            <a:r>
              <a:rPr lang="zh-CN" altLang="en-US" dirty="0"/>
              <a:t>或者 </a:t>
            </a:r>
            <a:r>
              <a:rPr lang="en-US" altLang="zh-CN" dirty="0"/>
              <a:t>bellhop(‘</a:t>
            </a:r>
            <a:r>
              <a:rPr lang="en-US" altLang="zh-CN" dirty="0" err="1"/>
              <a:t>MunkB</a:t>
            </a:r>
            <a:r>
              <a:rPr lang="en-US" altLang="zh-CN" dirty="0"/>
              <a:t>’)</a:t>
            </a:r>
          </a:p>
          <a:p>
            <a:r>
              <a:rPr lang="en-US" altLang="zh-CN" dirty="0" err="1"/>
              <a:t>plotssp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画声速剖面，并输出声场计算初始化信息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plotssp</a:t>
            </a:r>
            <a:r>
              <a:rPr lang="en-US" altLang="zh-CN" dirty="0"/>
              <a:t> </a:t>
            </a:r>
            <a:r>
              <a:rPr lang="en-US" altLang="zh-CN" dirty="0" err="1"/>
              <a:t>MunkB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884EF-81A8-446A-92B7-502AE859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546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Bellhop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[ </a:t>
            </a:r>
            <a:r>
              <a:rPr lang="en-US" altLang="zh-CN" dirty="0" err="1"/>
              <a:t>PlotTitle</a:t>
            </a:r>
            <a:r>
              <a:rPr lang="en-US" altLang="zh-CN" dirty="0"/>
              <a:t>, </a:t>
            </a:r>
            <a:r>
              <a:rPr lang="en-US" altLang="zh-CN" dirty="0" err="1"/>
              <a:t>PlotType</a:t>
            </a:r>
            <a:r>
              <a:rPr lang="en-US" altLang="zh-CN" dirty="0"/>
              <a:t>, </a:t>
            </a:r>
            <a:r>
              <a:rPr lang="en-US" altLang="zh-CN" dirty="0" err="1"/>
              <a:t>freqVec</a:t>
            </a:r>
            <a:r>
              <a:rPr lang="en-US" altLang="zh-CN" dirty="0"/>
              <a:t>, </a:t>
            </a:r>
            <a:r>
              <a:rPr lang="en-US" altLang="zh-CN" dirty="0" err="1"/>
              <a:t>atten</a:t>
            </a:r>
            <a:r>
              <a:rPr lang="en-US" altLang="zh-CN" dirty="0"/>
              <a:t>, Pos, pressure ] = </a:t>
            </a:r>
            <a:r>
              <a:rPr lang="en-US" altLang="zh-CN" dirty="0" err="1"/>
              <a:t>read_shd</a:t>
            </a:r>
            <a:r>
              <a:rPr lang="en-US" altLang="zh-CN" dirty="0"/>
              <a:t>( filename )</a:t>
            </a:r>
          </a:p>
          <a:p>
            <a:r>
              <a:rPr lang="zh-CN" altLang="en-US" dirty="0"/>
              <a:t>读取</a:t>
            </a:r>
            <a:r>
              <a:rPr lang="en-US" altLang="zh-CN" dirty="0"/>
              <a:t>.</a:t>
            </a:r>
            <a:r>
              <a:rPr lang="en-US" altLang="zh-CN" dirty="0" err="1"/>
              <a:t>shd</a:t>
            </a:r>
            <a:r>
              <a:rPr lang="zh-CN" altLang="en-US" dirty="0"/>
              <a:t>文件，得到声压场，其中</a:t>
            </a:r>
            <a:r>
              <a:rPr lang="en-US" altLang="zh-CN" dirty="0" err="1"/>
              <a:t>PlotTitle</a:t>
            </a:r>
            <a:r>
              <a:rPr lang="zh-CN" altLang="en-US" dirty="0"/>
              <a:t>、</a:t>
            </a:r>
            <a:r>
              <a:rPr lang="en-US" altLang="zh-CN" dirty="0" err="1"/>
              <a:t>PlotType</a:t>
            </a:r>
            <a:r>
              <a:rPr lang="zh-CN" altLang="en-US" dirty="0"/>
              <a:t>为画传播损失做准备，</a:t>
            </a:r>
            <a:r>
              <a:rPr lang="en-US" altLang="zh-CN" dirty="0" err="1"/>
              <a:t>freqVec</a:t>
            </a:r>
            <a:r>
              <a:rPr lang="zh-CN" altLang="en-US" dirty="0"/>
              <a:t>为频率向量，</a:t>
            </a:r>
            <a:r>
              <a:rPr lang="en-US" altLang="zh-CN" dirty="0" err="1"/>
              <a:t>atten</a:t>
            </a:r>
            <a:r>
              <a:rPr lang="zh-CN" altLang="en-US" dirty="0"/>
              <a:t>为衰减（可能不准确），</a:t>
            </a:r>
            <a:r>
              <a:rPr lang="en-US" altLang="zh-CN" dirty="0"/>
              <a:t>Pos</a:t>
            </a:r>
            <a:r>
              <a:rPr lang="zh-CN" altLang="en-US" dirty="0"/>
              <a:t>为声源和接收器的位置信息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[ </a:t>
            </a:r>
            <a:r>
              <a:rPr lang="en-US" altLang="zh-CN" dirty="0" err="1"/>
              <a:t>PlotTitle</a:t>
            </a:r>
            <a:r>
              <a:rPr lang="en-US" altLang="zh-CN" dirty="0"/>
              <a:t>, </a:t>
            </a:r>
            <a:r>
              <a:rPr lang="en-US" altLang="zh-CN" dirty="0" err="1"/>
              <a:t>PlotType</a:t>
            </a:r>
            <a:r>
              <a:rPr lang="en-US" altLang="zh-CN" dirty="0"/>
              <a:t>, </a:t>
            </a:r>
            <a:r>
              <a:rPr lang="en-US" altLang="zh-CN" dirty="0" err="1"/>
              <a:t>freqVec</a:t>
            </a:r>
            <a:r>
              <a:rPr lang="en-US" altLang="zh-CN" dirty="0"/>
              <a:t>, </a:t>
            </a:r>
            <a:r>
              <a:rPr lang="en-US" altLang="zh-CN" dirty="0" err="1"/>
              <a:t>atten</a:t>
            </a:r>
            <a:r>
              <a:rPr lang="en-US" altLang="zh-CN" dirty="0"/>
              <a:t>, Pos, pressure ] = </a:t>
            </a:r>
            <a:r>
              <a:rPr lang="en-US" altLang="zh-CN" dirty="0" err="1"/>
              <a:t>read_shd</a:t>
            </a:r>
            <a:r>
              <a:rPr lang="en-US" altLang="zh-CN" dirty="0"/>
              <a:t>(‘</a:t>
            </a:r>
            <a:r>
              <a:rPr lang="en-US" altLang="zh-CN" dirty="0" err="1"/>
              <a:t>MunkB</a:t>
            </a:r>
            <a:r>
              <a:rPr lang="en-US" altLang="zh-CN" dirty="0"/>
              <a:t>’)</a:t>
            </a:r>
          </a:p>
          <a:p>
            <a:r>
              <a:rPr lang="en-US" altLang="zh-CN" dirty="0" err="1"/>
              <a:t>plotshd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画传播损失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plotshd</a:t>
            </a:r>
            <a:r>
              <a:rPr lang="en-US" altLang="zh-CN" dirty="0"/>
              <a:t> </a:t>
            </a:r>
            <a:r>
              <a:rPr lang="en-US" altLang="zh-CN" dirty="0" err="1"/>
              <a:t>MunkB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BA0D6-6BEF-4692-A9F5-75E76FB0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34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bellhop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[ </a:t>
            </a:r>
            <a:r>
              <a:rPr lang="en-US" altLang="zh-CN" dirty="0" err="1"/>
              <a:t>Arr</a:t>
            </a:r>
            <a:r>
              <a:rPr lang="en-US" altLang="zh-CN" dirty="0"/>
              <a:t>, Pos ] = </a:t>
            </a:r>
            <a:r>
              <a:rPr lang="en-US" altLang="zh-CN" dirty="0" err="1"/>
              <a:t>read_arrivals_asc</a:t>
            </a:r>
            <a:r>
              <a:rPr lang="en-US" altLang="zh-CN" dirty="0"/>
              <a:t>( ARRFIL, </a:t>
            </a:r>
            <a:r>
              <a:rPr lang="en-US" altLang="zh-CN" dirty="0" err="1"/>
              <a:t>Narrmx</a:t>
            </a:r>
            <a:r>
              <a:rPr lang="en-US" altLang="zh-CN" dirty="0"/>
              <a:t> )</a:t>
            </a:r>
          </a:p>
          <a:p>
            <a:r>
              <a:rPr lang="zh-CN" altLang="en-US" dirty="0"/>
              <a:t>读取</a:t>
            </a:r>
            <a:r>
              <a:rPr lang="en-US" altLang="zh-CN" dirty="0"/>
              <a:t>.</a:t>
            </a:r>
            <a:r>
              <a:rPr lang="en-US" altLang="zh-CN" dirty="0" err="1"/>
              <a:t>arr</a:t>
            </a:r>
            <a:r>
              <a:rPr lang="zh-CN" altLang="en-US" dirty="0"/>
              <a:t>文件，得到声场到达结构，其中</a:t>
            </a:r>
            <a:r>
              <a:rPr lang="en-US" altLang="zh-CN" dirty="0"/>
              <a:t>ARRFIL</a:t>
            </a:r>
            <a:r>
              <a:rPr lang="zh-CN" altLang="en-US" dirty="0"/>
              <a:t>为文件名，</a:t>
            </a:r>
            <a:r>
              <a:rPr lang="en-US" altLang="zh-CN" dirty="0" err="1"/>
              <a:t>Narrmx</a:t>
            </a:r>
            <a:r>
              <a:rPr lang="zh-CN" altLang="en-US" dirty="0"/>
              <a:t>为最大的声场结构到达个数，</a:t>
            </a:r>
            <a:r>
              <a:rPr lang="en-US" altLang="zh-CN" dirty="0" err="1"/>
              <a:t>Arr</a:t>
            </a:r>
            <a:r>
              <a:rPr lang="zh-CN" altLang="en-US" dirty="0"/>
              <a:t>为声场到达结构信息，</a:t>
            </a:r>
            <a:r>
              <a:rPr lang="en-US" altLang="zh-CN" dirty="0"/>
              <a:t>Pos</a:t>
            </a:r>
            <a:r>
              <a:rPr lang="zh-CN" altLang="en-US" dirty="0"/>
              <a:t>为声源和接收器的位置信息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 [ </a:t>
            </a:r>
            <a:r>
              <a:rPr lang="en-US" altLang="zh-CN" dirty="0" err="1"/>
              <a:t>Arr</a:t>
            </a:r>
            <a:r>
              <a:rPr lang="en-US" altLang="zh-CN" dirty="0"/>
              <a:t>, Pos ] = </a:t>
            </a:r>
            <a:r>
              <a:rPr lang="en-US" altLang="zh-CN" dirty="0" err="1"/>
              <a:t>read_arrivals_asc</a:t>
            </a:r>
            <a:r>
              <a:rPr lang="en-US" altLang="zh-CN" dirty="0"/>
              <a:t>( '</a:t>
            </a:r>
            <a:r>
              <a:rPr lang="en-US" altLang="zh-CN" dirty="0" err="1"/>
              <a:t>MunkB_Arr</a:t>
            </a:r>
            <a:r>
              <a:rPr lang="en-US" altLang="zh-CN" dirty="0"/>
              <a:t>', 10 )</a:t>
            </a:r>
          </a:p>
          <a:p>
            <a:r>
              <a:rPr lang="en-US" altLang="zh-CN" dirty="0" err="1"/>
              <a:t>plotray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画声线传播轨迹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plotray</a:t>
            </a:r>
            <a:r>
              <a:rPr lang="en-US" altLang="zh-CN" dirty="0"/>
              <a:t> </a:t>
            </a:r>
            <a:r>
              <a:rPr lang="en-US" altLang="zh-CN" dirty="0" err="1"/>
              <a:t>MunkB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1D7C20-D37B-4028-8AED-85A5E2CF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78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327D6-0D24-4D09-ACBA-E9ECA294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7D954E-3779-489A-9151-519CF425147F}"/>
              </a:ext>
            </a:extLst>
          </p:cNvPr>
          <p:cNvSpPr txBox="1"/>
          <p:nvPr/>
        </p:nvSpPr>
        <p:spPr>
          <a:xfrm>
            <a:off x="5085184" y="2304661"/>
            <a:ext cx="5427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使用左图所示的环境仿真声场，使用</a:t>
            </a:r>
            <a:r>
              <a:rPr lang="en-US" altLang="zh-CN" dirty="0"/>
              <a:t>KRAKE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三种方法，要求画出距离为</a:t>
            </a:r>
            <a:r>
              <a:rPr lang="en-US" altLang="zh-CN" dirty="0"/>
              <a:t>0-10km</a:t>
            </a:r>
            <a:r>
              <a:rPr lang="zh-CN" altLang="en-US" dirty="0"/>
              <a:t>，深度为</a:t>
            </a:r>
            <a:r>
              <a:rPr lang="en-US" altLang="zh-CN" dirty="0"/>
              <a:t>0-5000m</a:t>
            </a:r>
            <a:r>
              <a:rPr lang="zh-CN" altLang="en-US" dirty="0"/>
              <a:t>的传播损失图像、声线图像，得到声压矩阵。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4D2221-3995-4C23-84D0-30FC9D30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3C8683-8398-4019-92F6-1A34580EC78C}"/>
              </a:ext>
            </a:extLst>
          </p:cNvPr>
          <p:cNvSpPr txBox="1"/>
          <p:nvPr/>
        </p:nvSpPr>
        <p:spPr>
          <a:xfrm>
            <a:off x="1864310" y="5508660"/>
            <a:ext cx="264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：环境参数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59093F7-3018-4888-B1E4-646D7B967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07" y="2025670"/>
            <a:ext cx="2901948" cy="34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5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AFB940-8B7C-41D5-9AAC-1264F01824F6}"/>
              </a:ext>
            </a:extLst>
          </p:cNvPr>
          <p:cNvSpPr/>
          <p:nvPr/>
        </p:nvSpPr>
        <p:spPr>
          <a:xfrm>
            <a:off x="4272421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谢谢观看！</a:t>
            </a:r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637504-E01B-4C1C-B87A-24E2FB13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482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27007-3EDC-4984-87B6-89E9FC283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声学工具箱教程（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dirty="0"/>
              <a:t>RAM</a:t>
            </a:r>
            <a:r>
              <a:rPr lang="zh-CN" altLang="en-US" dirty="0"/>
              <a:t>使用方法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B398D-BA24-4A35-AAF4-EC89A49DA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钱鹏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A64A6-0A8E-4729-AD4B-2967C9DF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3291" y="507801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3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B20B-332E-47D2-8427-F6198F5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RAM</a:t>
            </a:r>
            <a:r>
              <a:rPr lang="zh-CN" altLang="en-US" dirty="0"/>
              <a:t>调用结构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057C6-A126-4A72-926A-FB6747D6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396280" cy="3879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RAM</a:t>
            </a:r>
            <a:r>
              <a:rPr lang="zh-CN" altLang="en-US" b="1" dirty="0"/>
              <a:t>的输入与输出</a:t>
            </a:r>
            <a:endParaRPr lang="en-US" altLang="zh-CN" b="1" dirty="0"/>
          </a:p>
          <a:p>
            <a:r>
              <a:rPr lang="en-US" altLang="zh-CN" dirty="0"/>
              <a:t>.in</a:t>
            </a:r>
            <a:r>
              <a:rPr lang="zh-CN" altLang="en-US" dirty="0"/>
              <a:t>为</a:t>
            </a:r>
            <a:r>
              <a:rPr lang="en-US" altLang="zh-CN" dirty="0"/>
              <a:t>RAM</a:t>
            </a:r>
            <a:r>
              <a:rPr lang="zh-CN" altLang="en-US" dirty="0"/>
              <a:t>的环境文件；</a:t>
            </a:r>
            <a:endParaRPr lang="en-US" altLang="zh-CN" dirty="0"/>
          </a:p>
          <a:p>
            <a:r>
              <a:rPr lang="en-US" altLang="zh-CN" dirty="0"/>
              <a:t>.line</a:t>
            </a:r>
            <a:r>
              <a:rPr lang="zh-CN" altLang="en-US" dirty="0"/>
              <a:t>、</a:t>
            </a:r>
            <a:r>
              <a:rPr lang="en-US" altLang="zh-CN" dirty="0"/>
              <a:t>.grid</a:t>
            </a:r>
            <a:r>
              <a:rPr lang="zh-CN" altLang="en-US" dirty="0"/>
              <a:t>为</a:t>
            </a:r>
            <a:r>
              <a:rPr lang="en-US" altLang="zh-CN" dirty="0"/>
              <a:t>RAM</a:t>
            </a:r>
            <a:r>
              <a:rPr lang="zh-CN" altLang="en-US" dirty="0"/>
              <a:t>生成文件；</a:t>
            </a:r>
            <a:endParaRPr lang="en-US" altLang="zh-CN" dirty="0"/>
          </a:p>
          <a:p>
            <a:r>
              <a:rPr lang="en-US" altLang="zh-CN" dirty="0"/>
              <a:t>.line</a:t>
            </a:r>
            <a:r>
              <a:rPr lang="zh-CN" altLang="en-US" dirty="0"/>
              <a:t>为</a:t>
            </a:r>
            <a:r>
              <a:rPr lang="en-US" altLang="zh-CN" dirty="0"/>
              <a:t>RAM</a:t>
            </a:r>
            <a:r>
              <a:rPr lang="zh-CN" altLang="en-US" dirty="0"/>
              <a:t>计算出的声源深度的传播损失，为二进制文件；</a:t>
            </a:r>
            <a:endParaRPr lang="en-US" altLang="zh-CN" dirty="0"/>
          </a:p>
          <a:p>
            <a:r>
              <a:rPr lang="en-US" altLang="zh-CN" dirty="0"/>
              <a:t>.grid</a:t>
            </a:r>
            <a:r>
              <a:rPr lang="zh-CN" altLang="en-US" dirty="0"/>
              <a:t>为</a:t>
            </a:r>
            <a:r>
              <a:rPr lang="en-US" altLang="zh-CN" dirty="0"/>
              <a:t>RAM</a:t>
            </a:r>
            <a:r>
              <a:rPr lang="zh-CN" altLang="en-US" dirty="0"/>
              <a:t>计算出的声压数据，为二进制文件。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C92ED1-96DE-4FA9-8976-76844D4A2D47}"/>
              </a:ext>
            </a:extLst>
          </p:cNvPr>
          <p:cNvSpPr txBox="1"/>
          <p:nvPr/>
        </p:nvSpPr>
        <p:spPr>
          <a:xfrm>
            <a:off x="6771443" y="5316245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RAM</a:t>
            </a:r>
            <a:r>
              <a:rPr lang="zh-CN" altLang="en-US" dirty="0"/>
              <a:t>的输入与输出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3F0AE0-B3B5-4AC0-B7D7-BC5AE73D0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002" y="2075756"/>
            <a:ext cx="1908279" cy="318046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07D03-2D32-40B0-A67F-F65C7FFB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58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A32DC-DEAE-44F8-B18A-0AC8297D3C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1725" y="261938"/>
            <a:ext cx="9604375" cy="1049337"/>
          </a:xfrm>
        </p:spPr>
        <p:txBody>
          <a:bodyPr/>
          <a:lstStyle/>
          <a:p>
            <a:r>
              <a:rPr lang="en-US" altLang="zh-CN" dirty="0"/>
              <a:t>RAM</a:t>
            </a:r>
            <a:r>
              <a:rPr lang="zh-CN" altLang="en-US" dirty="0"/>
              <a:t>环境文件参数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477A2-4B38-49EF-AB6C-5651202843F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9200" y="1311275"/>
            <a:ext cx="6546539" cy="4512477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range-dependent example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125.0 40.0 30.0       	!</a:t>
            </a:r>
            <a:r>
              <a:rPr lang="zh-CN" altLang="en-US" sz="1400" dirty="0"/>
              <a:t> </a:t>
            </a:r>
            <a:r>
              <a:rPr lang="en-US" altLang="zh-CN" sz="1400" dirty="0" err="1"/>
              <a:t>freq</a:t>
            </a:r>
            <a:r>
              <a:rPr lang="en-US" altLang="zh-CN" sz="1400" dirty="0"/>
              <a:t> </a:t>
            </a:r>
            <a:r>
              <a:rPr lang="en-US" altLang="zh-CN" sz="1400" dirty="0" err="1"/>
              <a:t>zs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zr</a:t>
            </a:r>
            <a:r>
              <a:rPr lang="en-US" altLang="zh-CN" sz="1400" dirty="0"/>
              <a:t> </a:t>
            </a:r>
            <a:r>
              <a:rPr lang="zh-CN" altLang="en-US" sz="1400" dirty="0"/>
              <a:t>频率，声源深度、</a:t>
            </a:r>
            <a:r>
              <a:rPr lang="en-US" altLang="zh-CN" sz="1400" dirty="0"/>
              <a:t>.line</a:t>
            </a:r>
            <a:r>
              <a:rPr lang="zh-CN" altLang="en-US" sz="1400" dirty="0"/>
              <a:t>文件的指定接收器深度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4000.0 5.0 1	! </a:t>
            </a:r>
            <a:r>
              <a:rPr lang="en-US" altLang="zh-CN" sz="1400" dirty="0" err="1"/>
              <a:t>rmax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ndr</a:t>
            </a:r>
            <a:r>
              <a:rPr lang="en-US" altLang="zh-CN" sz="1400" dirty="0"/>
              <a:t> </a:t>
            </a:r>
            <a:r>
              <a:rPr lang="zh-CN" altLang="en-US" sz="1400" dirty="0"/>
              <a:t>最大距离，距离计算间隔，</a:t>
            </a:r>
            <a:r>
              <a:rPr lang="en-US" altLang="zh-CN" sz="1400" dirty="0"/>
              <a:t>.grid</a:t>
            </a:r>
            <a:r>
              <a:rPr lang="zh-CN" altLang="en-US" sz="1400" dirty="0"/>
              <a:t>文件的距离</a:t>
            </a:r>
            <a:r>
              <a:rPr lang="en-US" altLang="zh-CN" sz="1400" dirty="0"/>
              <a:t>		</a:t>
            </a:r>
            <a:r>
              <a:rPr lang="zh-CN" altLang="en-US" sz="1400" dirty="0"/>
              <a:t>采样步长（</a:t>
            </a:r>
            <a:r>
              <a:rPr lang="en-US" altLang="zh-CN" sz="1400" dirty="0" err="1"/>
              <a:t>ndr</a:t>
            </a:r>
            <a:r>
              <a:rPr lang="en-US" altLang="zh-CN" sz="1400" dirty="0"/>
              <a:t>=1</a:t>
            </a:r>
            <a:r>
              <a:rPr lang="zh-CN" altLang="en-US" sz="1400" dirty="0"/>
              <a:t>代表全采样）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1000.0 1 2 1000.0    ! </a:t>
            </a:r>
            <a:r>
              <a:rPr lang="en-US" altLang="zh-CN" sz="1400" dirty="0" err="1"/>
              <a:t>zmax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dz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ndz</a:t>
            </a:r>
            <a:r>
              <a:rPr lang="en-US" altLang="zh-CN" sz="1400" dirty="0"/>
              <a:t> </a:t>
            </a:r>
            <a:r>
              <a:rPr lang="en-US" altLang="zh-CN" sz="1400" dirty="0" err="1"/>
              <a:t>zmplt</a:t>
            </a:r>
            <a:r>
              <a:rPr lang="en-US" altLang="zh-CN" sz="1400" dirty="0"/>
              <a:t> </a:t>
            </a:r>
            <a:r>
              <a:rPr lang="zh-CN" altLang="en-US" sz="1400" dirty="0"/>
              <a:t>最大深度，深度计算间隔，</a:t>
            </a:r>
            <a:r>
              <a:rPr lang="en-US" altLang="zh-CN" sz="1400" dirty="0"/>
              <a:t>.grid</a:t>
            </a:r>
            <a:r>
              <a:rPr lang="zh-CN" altLang="en-US" sz="1400" dirty="0"/>
              <a:t>文件的</a:t>
            </a:r>
            <a:r>
              <a:rPr lang="en-US" altLang="zh-CN" sz="1400" dirty="0"/>
              <a:t>		</a:t>
            </a:r>
            <a:r>
              <a:rPr lang="zh-CN" altLang="en-US" sz="1400" dirty="0"/>
              <a:t>深度采样步长，输出到</a:t>
            </a:r>
            <a:r>
              <a:rPr lang="en-US" altLang="zh-CN" sz="1400" dirty="0"/>
              <a:t>.grid</a:t>
            </a:r>
            <a:r>
              <a:rPr lang="zh-CN" altLang="en-US" sz="1400" dirty="0"/>
              <a:t>文件的最大深度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400" dirty="0"/>
              <a:t>1500.0 8 1 0.0        	! c0 np ns </a:t>
            </a:r>
            <a:r>
              <a:rPr lang="en-US" altLang="zh-CN" sz="1400" dirty="0" err="1"/>
              <a:t>rs</a:t>
            </a:r>
            <a:r>
              <a:rPr lang="en-US" altLang="zh-CN" sz="1400" dirty="0"/>
              <a:t> </a:t>
            </a:r>
            <a:r>
              <a:rPr lang="zh-CN" altLang="en-US" sz="1400" dirty="0"/>
              <a:t>起始位置声速，</a:t>
            </a:r>
            <a:r>
              <a:rPr lang="en-US" altLang="zh-CN" sz="1400" dirty="0" err="1"/>
              <a:t>Pade</a:t>
            </a:r>
            <a:r>
              <a:rPr lang="zh-CN" altLang="en-US" sz="1400" dirty="0"/>
              <a:t>展开数，稳定限制数，稳</a:t>
            </a:r>
            <a:r>
              <a:rPr lang="en-US" altLang="zh-CN" sz="1400" dirty="0"/>
              <a:t>		</a:t>
            </a:r>
            <a:r>
              <a:rPr lang="zh-CN" altLang="en-US" sz="1400" dirty="0"/>
              <a:t>定限制的最大距离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0.0 800                	! </a:t>
            </a:r>
            <a:r>
              <a:rPr lang="en-US" altLang="zh-CN" sz="1400" dirty="0" err="1"/>
              <a:t>rb</a:t>
            </a:r>
            <a:r>
              <a:rPr lang="en-US" altLang="zh-CN" sz="1400" dirty="0"/>
              <a:t> </a:t>
            </a:r>
            <a:r>
              <a:rPr lang="en-US" altLang="zh-CN" sz="1400" dirty="0" err="1"/>
              <a:t>zb</a:t>
            </a:r>
            <a:r>
              <a:rPr lang="en-US" altLang="zh-CN" sz="1400" dirty="0"/>
              <a:t> </a:t>
            </a:r>
            <a:r>
              <a:rPr lang="zh-CN" altLang="en-US" sz="1400" dirty="0"/>
              <a:t>海底距离和深度坐标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4000.0 400.0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-1 -1  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0 1500             	! z </a:t>
            </a:r>
            <a:r>
              <a:rPr lang="en-US" altLang="zh-CN" sz="1400" dirty="0" err="1"/>
              <a:t>cw</a:t>
            </a:r>
            <a:r>
              <a:rPr lang="en-US" altLang="zh-CN" sz="1400" dirty="0"/>
              <a:t> </a:t>
            </a:r>
            <a:r>
              <a:rPr lang="zh-CN" altLang="en-US" sz="1400" dirty="0"/>
              <a:t>海水深度和声速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3000 1500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-1 -1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0.0 1700               	! z </a:t>
            </a:r>
            <a:r>
              <a:rPr lang="en-US" altLang="zh-CN" sz="1400" dirty="0" err="1"/>
              <a:t>cb</a:t>
            </a:r>
            <a:r>
              <a:rPr lang="en-US" altLang="zh-CN" sz="1400" dirty="0"/>
              <a:t> </a:t>
            </a:r>
            <a:r>
              <a:rPr lang="zh-CN" altLang="en-US" sz="1400" dirty="0"/>
              <a:t>海底深度和声速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-1 -1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0.0 1.5                  	! z </a:t>
            </a:r>
            <a:r>
              <a:rPr lang="en-US" altLang="zh-CN" sz="1400" dirty="0" err="1"/>
              <a:t>rhob</a:t>
            </a:r>
            <a:r>
              <a:rPr lang="en-US" altLang="zh-CN" sz="1400" dirty="0"/>
              <a:t> </a:t>
            </a:r>
            <a:r>
              <a:rPr lang="zh-CN" altLang="en-US" sz="1400" dirty="0"/>
              <a:t>海底深度和密度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-1 -1  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0.0  0.5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900.0  0.5               	! z attn </a:t>
            </a:r>
            <a:r>
              <a:rPr lang="zh-CN" altLang="en-US" sz="1400" dirty="0"/>
              <a:t>海底深度和衰减系数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ea"/>
              <a:buAutoNum type="arabicPeriod"/>
            </a:pPr>
            <a:r>
              <a:rPr lang="en-US" altLang="zh-CN" sz="1400" dirty="0"/>
              <a:t>1000.0 10.0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DE1BFDA-C371-40BB-9870-677BF899A39E}"/>
              </a:ext>
            </a:extLst>
          </p:cNvPr>
          <p:cNvCxnSpPr/>
          <p:nvPr/>
        </p:nvCxnSpPr>
        <p:spPr>
          <a:xfrm>
            <a:off x="1219200" y="786606"/>
            <a:ext cx="9763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141F96-8678-41D3-A5B9-492CAD44FCFE}"/>
              </a:ext>
            </a:extLst>
          </p:cNvPr>
          <p:cNvSpPr txBox="1"/>
          <p:nvPr/>
        </p:nvSpPr>
        <p:spPr>
          <a:xfrm>
            <a:off x="1219200" y="788055"/>
            <a:ext cx="2343150" cy="52322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ram.in</a:t>
            </a:r>
            <a:endParaRPr lang="zh-CN" alt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D06C57-57DC-4DAC-9C9A-A79C0F0C724F}"/>
              </a:ext>
            </a:extLst>
          </p:cNvPr>
          <p:cNvSpPr txBox="1"/>
          <p:nvPr/>
        </p:nvSpPr>
        <p:spPr>
          <a:xfrm>
            <a:off x="7765740" y="1462788"/>
            <a:ext cx="41037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9"/>
            </a:pPr>
            <a:r>
              <a:rPr lang="en-US" altLang="zh-CN" sz="1400" dirty="0"/>
              <a:t>-1 -1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9"/>
            </a:pPr>
            <a:r>
              <a:rPr lang="en-US" altLang="zh-CN" sz="1400" dirty="0"/>
              <a:t>25000.0 		! </a:t>
            </a:r>
            <a:r>
              <a:rPr lang="en-US" altLang="zh-CN" sz="1400" dirty="0" err="1"/>
              <a:t>rp</a:t>
            </a:r>
            <a:r>
              <a:rPr lang="en-US" altLang="zh-CN" sz="1400" dirty="0"/>
              <a:t> </a:t>
            </a:r>
            <a:r>
              <a:rPr lang="zh-CN" altLang="en-US" sz="1400" dirty="0"/>
              <a:t>声速剖面更新距离</a:t>
            </a:r>
            <a:r>
              <a:rPr lang="en-US" altLang="zh-CN" sz="1400" dirty="0"/>
              <a:t>  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+mj-lt"/>
              <a:buAutoNum type="arabicPeriod" startAt="19"/>
            </a:pPr>
            <a:r>
              <a:rPr lang="en-US" altLang="zh-CN" sz="1400" dirty="0"/>
              <a:t>0 1500			! z </a:t>
            </a:r>
            <a:r>
              <a:rPr lang="en-US" altLang="zh-CN" sz="1400" dirty="0" err="1"/>
              <a:t>cw</a:t>
            </a:r>
            <a:r>
              <a:rPr lang="en-US" altLang="zh-CN" sz="1400" dirty="0"/>
              <a:t> </a:t>
            </a:r>
            <a:r>
              <a:rPr lang="zh-CN" altLang="en-US" sz="1400" dirty="0"/>
              <a:t>海水深度和声速</a:t>
            </a:r>
            <a:endParaRPr lang="en-US" altLang="zh-CN" sz="1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3000 1500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-1 -1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0.0 1700 	! z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cb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海底深度和声速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-1 -1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0.0 1.5		! z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rhob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海底深度和密度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-1 -1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0.0  0.5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900.0  0.5	! z attn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深度和衰减系数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1000.0 10.0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+mj-lt"/>
              <a:buAutoNum type="arabicPeriod" startAt="19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  <a:cs typeface="+mn-cs"/>
              </a:rPr>
              <a:t>-1 -1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1B3F14-E9FD-447C-BA14-EAF98755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8B38AA-C7CB-4EA9-9F85-72BB808E19A3}"/>
              </a:ext>
            </a:extLst>
          </p:cNvPr>
          <p:cNvSpPr txBox="1"/>
          <p:nvPr/>
        </p:nvSpPr>
        <p:spPr>
          <a:xfrm>
            <a:off x="7692947" y="4766654"/>
            <a:ext cx="3600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注：详见</a:t>
            </a:r>
            <a:r>
              <a:rPr lang="en-US" altLang="zh-CN" dirty="0"/>
              <a:t>《User’s Guide for RAM Versions 1.0 and 1.0p》p.12-13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886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RAM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3415061" cy="337922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ram_p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使用</a:t>
            </a:r>
            <a:r>
              <a:rPr lang="en-US" altLang="zh-CN" dirty="0"/>
              <a:t>ram</a:t>
            </a:r>
            <a:r>
              <a:rPr lang="zh-CN" altLang="en-US" dirty="0"/>
              <a:t>模型计算声场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ram_p</a:t>
            </a:r>
            <a:r>
              <a:rPr lang="en-US" altLang="zh-CN" dirty="0"/>
              <a:t> </a:t>
            </a:r>
            <a:r>
              <a:rPr lang="en-US" altLang="zh-CN" dirty="0" err="1"/>
              <a:t>Munkbty</a:t>
            </a:r>
            <a:endParaRPr lang="en-US" altLang="zh-CN" dirty="0"/>
          </a:p>
          <a:p>
            <a:r>
              <a:rPr lang="en-US" altLang="zh-CN" dirty="0" err="1"/>
              <a:t>plotgrid</a:t>
            </a:r>
            <a:r>
              <a:rPr lang="en-US" altLang="zh-CN" dirty="0"/>
              <a:t> filename</a:t>
            </a:r>
          </a:p>
          <a:p>
            <a:r>
              <a:rPr lang="zh-CN" altLang="en-US" dirty="0"/>
              <a:t>画声场传播损失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 err="1"/>
              <a:t>plotgrid</a:t>
            </a:r>
            <a:r>
              <a:rPr lang="en-US" altLang="zh-CN" dirty="0"/>
              <a:t> </a:t>
            </a:r>
            <a:r>
              <a:rPr lang="en-US" altLang="zh-CN" dirty="0" err="1"/>
              <a:t>Munkbty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21BFBD-EC96-4CC4-B6CB-D8EE1638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6047A9-42B1-4BC1-8060-B2C0880F2421}"/>
              </a:ext>
            </a:extLst>
          </p:cNvPr>
          <p:cNvSpPr txBox="1"/>
          <p:nvPr/>
        </p:nvSpPr>
        <p:spPr>
          <a:xfrm>
            <a:off x="6096000" y="1942515"/>
            <a:ext cx="3329940" cy="1847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effectLst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n-US" altLang="zh-CN" dirty="0" err="1"/>
              <a:t>plotssp</a:t>
            </a:r>
            <a:r>
              <a:rPr lang="en-US" altLang="zh-CN" dirty="0"/>
              <a:t>(</a:t>
            </a:r>
            <a:r>
              <a:rPr lang="en-US" altLang="zh-CN" dirty="0" err="1"/>
              <a:t>filename,’r</a:t>
            </a:r>
            <a:r>
              <a:rPr lang="en-US" altLang="zh-CN" dirty="0"/>
              <a:t>’)</a:t>
            </a:r>
          </a:p>
          <a:p>
            <a:r>
              <a:rPr lang="zh-CN" altLang="en-US" dirty="0"/>
              <a:t>画声速剖面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plot(‘</a:t>
            </a:r>
            <a:r>
              <a:rPr lang="en-US" altLang="zh-CN" dirty="0" err="1"/>
              <a:t>Munkbty</a:t>
            </a:r>
            <a:r>
              <a:rPr lang="en-US" altLang="zh-CN" dirty="0"/>
              <a:t>’, ‘r’)</a:t>
            </a:r>
          </a:p>
        </p:txBody>
      </p:sp>
    </p:spTree>
    <p:extLst>
      <p:ext uri="{BB962C8B-B14F-4D97-AF65-F5344CB8AC3E}">
        <p14:creationId xmlns:p14="http://schemas.microsoft.com/office/powerpoint/2010/main" val="2656138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4581A-AC82-4D59-B014-945006C2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MATLAB</a:t>
            </a:r>
            <a:r>
              <a:rPr lang="zh-CN" altLang="en-US" dirty="0"/>
              <a:t>函数获得声场数据（</a:t>
            </a:r>
            <a:r>
              <a:rPr lang="en-US" altLang="zh-CN" dirty="0"/>
              <a:t>RAM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B1D6-936C-40E1-A5D7-76028A78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plotline filename</a:t>
            </a:r>
          </a:p>
          <a:p>
            <a:r>
              <a:rPr lang="zh-CN" altLang="en-US" dirty="0"/>
              <a:t>画出在声源深度的传播损失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plotline </a:t>
            </a:r>
            <a:r>
              <a:rPr lang="en-US" altLang="zh-CN" dirty="0" err="1"/>
              <a:t>Munkbty</a:t>
            </a:r>
            <a:endParaRPr lang="en-US" altLang="zh-CN" dirty="0"/>
          </a:p>
          <a:p>
            <a:r>
              <a:rPr lang="en-US" altLang="zh-CN" dirty="0"/>
              <a:t> [ </a:t>
            </a:r>
            <a:r>
              <a:rPr lang="en-US" altLang="zh-CN" dirty="0" err="1"/>
              <a:t>PlotTitle</a:t>
            </a:r>
            <a:r>
              <a:rPr lang="en-US" altLang="zh-CN" dirty="0"/>
              <a:t>,  </a:t>
            </a:r>
            <a:r>
              <a:rPr lang="en-US" altLang="zh-CN" dirty="0" err="1"/>
              <a:t>freqVec</a:t>
            </a:r>
            <a:r>
              <a:rPr lang="en-US" altLang="zh-CN" dirty="0"/>
              <a:t>, Pos, pressure ]  = </a:t>
            </a:r>
            <a:r>
              <a:rPr lang="en-US" altLang="zh-CN" dirty="0" err="1"/>
              <a:t>read_grid</a:t>
            </a:r>
            <a:r>
              <a:rPr lang="en-US" altLang="zh-CN" dirty="0"/>
              <a:t>(filename)</a:t>
            </a:r>
          </a:p>
          <a:p>
            <a:r>
              <a:rPr lang="zh-CN" altLang="en-US" dirty="0"/>
              <a:t>读取声压等参数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[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PlotTitle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,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freqVec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, Pos, pressure ]  =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read_grid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( ‘</a:t>
            </a:r>
            <a:r>
              <a:rPr lang="en-US" altLang="zh-CN" dirty="0" err="1">
                <a:latin typeface="+mj-lt"/>
              </a:rPr>
              <a:t>Munkbty</a:t>
            </a:r>
            <a:r>
              <a:rPr lang="en-US" altLang="zh-CN" dirty="0">
                <a:latin typeface="+mj-lt"/>
              </a:rPr>
              <a:t>’)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34A92-66C0-4889-900C-8ECCAEB6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51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327D6-0D24-4D09-ACBA-E9ECA294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7D954E-3779-489A-9151-519CF425147F}"/>
              </a:ext>
            </a:extLst>
          </p:cNvPr>
          <p:cNvSpPr txBox="1"/>
          <p:nvPr/>
        </p:nvSpPr>
        <p:spPr>
          <a:xfrm>
            <a:off x="5085184" y="2304661"/>
            <a:ext cx="5427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使用左图所示的环境仿真声场，使用</a:t>
            </a:r>
            <a:r>
              <a:rPr lang="en-US" altLang="zh-CN" dirty="0"/>
              <a:t>KRAKE</a:t>
            </a:r>
            <a:r>
              <a:rPr lang="zh-CN" altLang="en-US" dirty="0"/>
              <a:t>、</a:t>
            </a:r>
            <a:r>
              <a:rPr lang="en-US" altLang="zh-CN" dirty="0"/>
              <a:t>BELLHOP</a:t>
            </a:r>
            <a:r>
              <a:rPr lang="zh-CN" altLang="en-US" dirty="0"/>
              <a:t>、</a:t>
            </a:r>
            <a:r>
              <a:rPr lang="en-US" altLang="zh-CN" dirty="0"/>
              <a:t>RAM</a:t>
            </a:r>
            <a:r>
              <a:rPr lang="zh-CN" altLang="en-US" dirty="0"/>
              <a:t>三种方法，要求画出距离为</a:t>
            </a:r>
            <a:r>
              <a:rPr lang="en-US" altLang="zh-CN" dirty="0"/>
              <a:t>0-100km</a:t>
            </a:r>
            <a:r>
              <a:rPr lang="zh-CN" altLang="en-US" dirty="0"/>
              <a:t>，深度为</a:t>
            </a:r>
            <a:r>
              <a:rPr lang="en-US" altLang="zh-CN" dirty="0"/>
              <a:t>0-5000m</a:t>
            </a:r>
            <a:r>
              <a:rPr lang="zh-CN" altLang="en-US" dirty="0"/>
              <a:t>的传播损失图像，得到声压矩阵。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3FAB02-0922-43DA-B6BF-1FF89FC2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45A7CF-454E-407E-9A5F-5371E697A49E}"/>
              </a:ext>
            </a:extLst>
          </p:cNvPr>
          <p:cNvSpPr txBox="1"/>
          <p:nvPr/>
        </p:nvSpPr>
        <p:spPr>
          <a:xfrm>
            <a:off x="1864310" y="5508660"/>
            <a:ext cx="264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：环境参数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E4042C-ABC4-4E0B-8BA1-015EB16B1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40" y="2396101"/>
            <a:ext cx="2996707" cy="27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53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AFB940-8B7C-41D5-9AAC-1264F01824F6}"/>
              </a:ext>
            </a:extLst>
          </p:cNvPr>
          <p:cNvSpPr/>
          <p:nvPr/>
        </p:nvSpPr>
        <p:spPr>
          <a:xfrm>
            <a:off x="4272421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谢谢观看！</a:t>
            </a:r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637504-E01B-4C1C-B87A-24E2FB13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30846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2762</Words>
  <Application>Microsoft Office PowerPoint</Application>
  <PresentationFormat>宽屏</PresentationFormat>
  <Paragraphs>271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等线</vt:lpstr>
      <vt:lpstr>罗西钢笔行楷</vt:lpstr>
      <vt:lpstr>微软雅黑</vt:lpstr>
      <vt:lpstr>Arial</vt:lpstr>
      <vt:lpstr>Cambria Math</vt:lpstr>
      <vt:lpstr>Courier New</vt:lpstr>
      <vt:lpstr>Gill Sans MT</vt:lpstr>
      <vt:lpstr>Times New Roman</vt:lpstr>
      <vt:lpstr>画廊</vt:lpstr>
      <vt:lpstr>PowerPoint 演示文稿</vt:lpstr>
      <vt:lpstr>声学工具箱教程</vt:lpstr>
      <vt:lpstr>目录</vt:lpstr>
      <vt:lpstr>KRAKEN、BELLHOP、RAM原理介绍</vt:lpstr>
      <vt:lpstr>KRAKEN、BELLHOP、RAM原理介绍</vt:lpstr>
      <vt:lpstr>简正波模型（KRAKEN）</vt:lpstr>
      <vt:lpstr>射线模型（bellhop）</vt:lpstr>
      <vt:lpstr>抛物方程模型（RAM）</vt:lpstr>
      <vt:lpstr>KRAKEN、BELLHOP、RAM应用场景 </vt:lpstr>
      <vt:lpstr>PowerPoint 演示文稿</vt:lpstr>
      <vt:lpstr>声学工具箱教程（2） KRAKEN使用方法</vt:lpstr>
      <vt:lpstr>KRAKEN调用文件结构 </vt:lpstr>
      <vt:lpstr>kraken环境文件参数</vt:lpstr>
      <vt:lpstr>kraken环境文件参数</vt:lpstr>
      <vt:lpstr>调用MATLAB函数获得声场数据（kraken）</vt:lpstr>
      <vt:lpstr>调用MATLAB函数获得声场数据（kraken） </vt:lpstr>
      <vt:lpstr>例子</vt:lpstr>
      <vt:lpstr>PowerPoint 演示文稿</vt:lpstr>
      <vt:lpstr>声学工具箱教程（3） BELLHOP使用方法</vt:lpstr>
      <vt:lpstr>BELLHOP调用结构 </vt:lpstr>
      <vt:lpstr>BELLHOP环境文件参数</vt:lpstr>
      <vt:lpstr>调用MATLAB函数获得声场数据（BELLHOP）</vt:lpstr>
      <vt:lpstr>调用MATLAB函数获得声场数据（Bellhop） </vt:lpstr>
      <vt:lpstr>调用MATLAB函数获得声场数据（bellhop） </vt:lpstr>
      <vt:lpstr>例子</vt:lpstr>
      <vt:lpstr>PowerPoint 演示文稿</vt:lpstr>
      <vt:lpstr>声学工具箱教程（4） RAM使用方法</vt:lpstr>
      <vt:lpstr>RAM调用结构 </vt:lpstr>
      <vt:lpstr>RAM环境文件参数</vt:lpstr>
      <vt:lpstr>调用MATLAB函数获得声场数据（RAM） </vt:lpstr>
      <vt:lpstr>调用MATLAB函数获得声场数据（RAM） </vt:lpstr>
      <vt:lpstr>例子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声学工具箱教程</dc:title>
  <dc:creator>钱 鹏</dc:creator>
  <cp:lastModifiedBy>钱 鹏</cp:lastModifiedBy>
  <cp:revision>103</cp:revision>
  <dcterms:created xsi:type="dcterms:W3CDTF">2021-03-19T02:39:20Z</dcterms:created>
  <dcterms:modified xsi:type="dcterms:W3CDTF">2021-04-01T07:33:30Z</dcterms:modified>
</cp:coreProperties>
</file>